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Raleway" pitchFamily="2" charset="0"/>
      <p:regular r:id="rId15"/>
    </p:embeddedFont>
    <p:embeddedFont>
      <p:font typeface="Raleway Light" pitchFamily="2" charset="0"/>
      <p:regular r:id="rId16"/>
    </p:embeddedFont>
    <p:embeddedFont>
      <p:font typeface="Roboto" panose="02000000000000000000" pitchFamily="2" charset="0"/>
      <p:regular r:id="rId17"/>
    </p:embeddedFont>
    <p:embeddedFont>
      <p:font typeface="Roboto Bold" panose="02000000000000000000"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CECF3"/>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grpSp>
        <p:nvGrpSpPr>
          <p:cNvPr id="6" name="Group 6"/>
          <p:cNvGrpSpPr/>
          <p:nvPr/>
        </p:nvGrpSpPr>
        <p:grpSpPr>
          <a:xfrm>
            <a:off x="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2"/>
              <a:stretch>
                <a:fillRect/>
              </a:stretch>
            </a:blipFill>
          </p:spPr>
        </p:sp>
      </p:grpSp>
      <p:sp>
        <p:nvSpPr>
          <p:cNvPr id="8" name="TextBox 8"/>
          <p:cNvSpPr txBox="1"/>
          <p:nvPr/>
        </p:nvSpPr>
        <p:spPr>
          <a:xfrm>
            <a:off x="7850238" y="3562645"/>
            <a:ext cx="9445523" cy="1800520"/>
          </a:xfrm>
          <a:prstGeom prst="rect">
            <a:avLst/>
          </a:prstGeom>
        </p:spPr>
        <p:txBody>
          <a:bodyPr lIns="0" tIns="0" rIns="0" bIns="0" rtlCol="0" anchor="t">
            <a:spAutoFit/>
          </a:bodyPr>
          <a:lstStyle/>
          <a:p>
            <a:pPr algn="l">
              <a:lnSpc>
                <a:spcPts val="6937"/>
              </a:lnSpc>
            </a:pPr>
            <a:r>
              <a:rPr lang="en-US" sz="5562">
                <a:solidFill>
                  <a:srgbClr val="1B1B27"/>
                </a:solidFill>
                <a:latin typeface="Raleway"/>
                <a:ea typeface="Raleway"/>
                <a:cs typeface="Raleway"/>
                <a:sym typeface="Raleway"/>
              </a:rPr>
              <a:t>Finance Tracker: A Full-Stack Web Application</a:t>
            </a:r>
          </a:p>
        </p:txBody>
      </p:sp>
      <p:sp>
        <p:nvSpPr>
          <p:cNvPr id="9" name="TextBox 9"/>
          <p:cNvSpPr txBox="1"/>
          <p:nvPr/>
        </p:nvSpPr>
        <p:spPr>
          <a:xfrm>
            <a:off x="7850238" y="5693121"/>
            <a:ext cx="9445523" cy="1002506"/>
          </a:xfrm>
          <a:prstGeom prst="rect">
            <a:avLst/>
          </a:prstGeom>
        </p:spPr>
        <p:txBody>
          <a:bodyPr lIns="0" tIns="0" rIns="0" bIns="0" rtlCol="0" anchor="t">
            <a:spAutoFit/>
          </a:bodyPr>
          <a:lstStyle/>
          <a:p>
            <a:pPr algn="l">
              <a:lnSpc>
                <a:spcPts val="3562"/>
              </a:lnSpc>
            </a:pPr>
            <a:r>
              <a:rPr lang="en-US" sz="2187">
                <a:solidFill>
                  <a:srgbClr val="3C3939"/>
                </a:solidFill>
                <a:latin typeface="Roboto"/>
                <a:ea typeface="Roboto"/>
                <a:cs typeface="Roboto"/>
                <a:sym typeface="Roboto"/>
              </a:rPr>
              <a:t>A secure, intuitive platform for managing personal finances with real-time insights and visual analytics</a:t>
            </a:r>
          </a:p>
        </p:txBody>
      </p:sp>
      <p:sp>
        <p:nvSpPr>
          <p:cNvPr id="10" name="TextBox 9">
            <a:extLst>
              <a:ext uri="{FF2B5EF4-FFF2-40B4-BE49-F238E27FC236}">
                <a16:creationId xmlns:a16="http://schemas.microsoft.com/office/drawing/2014/main" id="{3945BAAC-BE2F-DF36-486C-6F0C2F3E70FB}"/>
              </a:ext>
            </a:extLst>
          </p:cNvPr>
          <p:cNvSpPr txBox="1"/>
          <p:nvPr/>
        </p:nvSpPr>
        <p:spPr>
          <a:xfrm>
            <a:off x="12420600" y="8420100"/>
            <a:ext cx="5715000" cy="1631216"/>
          </a:xfrm>
          <a:prstGeom prst="rect">
            <a:avLst/>
          </a:prstGeom>
          <a:noFill/>
        </p:spPr>
        <p:txBody>
          <a:bodyPr wrap="square" rtlCol="0">
            <a:spAutoFit/>
          </a:bodyPr>
          <a:lstStyle/>
          <a:p>
            <a:r>
              <a:rPr lang="en-IN" sz="2000" dirty="0"/>
              <a:t>Name: </a:t>
            </a:r>
            <a:r>
              <a:rPr lang="en-IN" sz="2000" dirty="0" err="1"/>
              <a:t>ChagamReddy</a:t>
            </a:r>
            <a:r>
              <a:rPr lang="en-IN" sz="2000" dirty="0"/>
              <a:t> Anush Reddy</a:t>
            </a:r>
          </a:p>
          <a:p>
            <a:r>
              <a:rPr lang="en-IN" sz="2000" dirty="0"/>
              <a:t>UID:24BAI70811</a:t>
            </a:r>
          </a:p>
          <a:p>
            <a:r>
              <a:rPr lang="en-IN" sz="2000" dirty="0"/>
              <a:t>Name: Chaitanya </a:t>
            </a:r>
            <a:r>
              <a:rPr lang="en-IN" sz="2000" dirty="0" err="1"/>
              <a:t>Jedage</a:t>
            </a:r>
            <a:endParaRPr lang="en-IN" sz="2000" dirty="0"/>
          </a:p>
          <a:p>
            <a:r>
              <a:rPr lang="en-IN" sz="2000" dirty="0"/>
              <a:t>UID:24BAI70865</a:t>
            </a:r>
          </a:p>
          <a:p>
            <a:r>
              <a:rPr lang="en-IN" sz="2000" dirty="0" err="1"/>
              <a:t>Subject:Fullstack</a:t>
            </a:r>
            <a:endParaRPr lang="en-IN"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CECF3"/>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sp>
        <p:nvSpPr>
          <p:cNvPr id="6" name="TextBox 6"/>
          <p:cNvSpPr txBox="1"/>
          <p:nvPr/>
        </p:nvSpPr>
        <p:spPr>
          <a:xfrm>
            <a:off x="992238" y="2692746"/>
            <a:ext cx="7088238" cy="914552"/>
          </a:xfrm>
          <a:prstGeom prst="rect">
            <a:avLst/>
          </a:prstGeom>
        </p:spPr>
        <p:txBody>
          <a:bodyPr lIns="0" tIns="0" rIns="0" bIns="0" rtlCol="0" anchor="t">
            <a:spAutoFit/>
          </a:bodyPr>
          <a:lstStyle/>
          <a:p>
            <a:pPr algn="l">
              <a:lnSpc>
                <a:spcPts val="6937"/>
              </a:lnSpc>
            </a:pPr>
            <a:r>
              <a:rPr lang="en-US" sz="5562">
                <a:solidFill>
                  <a:srgbClr val="1B1B27"/>
                </a:solidFill>
                <a:latin typeface="Raleway"/>
                <a:ea typeface="Raleway"/>
                <a:cs typeface="Raleway"/>
                <a:sym typeface="Raleway"/>
              </a:rPr>
              <a:t>Project Overview</a:t>
            </a:r>
          </a:p>
        </p:txBody>
      </p:sp>
      <p:sp>
        <p:nvSpPr>
          <p:cNvPr id="7" name="TextBox 7"/>
          <p:cNvSpPr txBox="1"/>
          <p:nvPr/>
        </p:nvSpPr>
        <p:spPr>
          <a:xfrm>
            <a:off x="992238" y="4287441"/>
            <a:ext cx="4063155" cy="471487"/>
          </a:xfrm>
          <a:prstGeom prst="rect">
            <a:avLst/>
          </a:prstGeom>
        </p:spPr>
        <p:txBody>
          <a:bodyPr lIns="0" tIns="0" rIns="0" bIns="0" rtlCol="0" anchor="t">
            <a:spAutoFit/>
          </a:bodyPr>
          <a:lstStyle/>
          <a:p>
            <a:pPr algn="l">
              <a:lnSpc>
                <a:spcPts val="3437"/>
              </a:lnSpc>
            </a:pPr>
            <a:r>
              <a:rPr lang="en-US" sz="2750">
                <a:solidFill>
                  <a:srgbClr val="1B1B27"/>
                </a:solidFill>
                <a:latin typeface="Raleway"/>
                <a:ea typeface="Raleway"/>
                <a:cs typeface="Raleway"/>
                <a:sym typeface="Raleway"/>
              </a:rPr>
              <a:t>What is Finance Tracker?</a:t>
            </a:r>
          </a:p>
        </p:txBody>
      </p:sp>
      <p:sp>
        <p:nvSpPr>
          <p:cNvPr id="8" name="TextBox 8"/>
          <p:cNvSpPr txBox="1"/>
          <p:nvPr/>
        </p:nvSpPr>
        <p:spPr>
          <a:xfrm>
            <a:off x="992238" y="4947199"/>
            <a:ext cx="7805890" cy="2363391"/>
          </a:xfrm>
          <a:prstGeom prst="rect">
            <a:avLst/>
          </a:prstGeom>
        </p:spPr>
        <p:txBody>
          <a:bodyPr lIns="0" tIns="0" rIns="0" bIns="0" rtlCol="0" anchor="t">
            <a:spAutoFit/>
          </a:bodyPr>
          <a:lstStyle/>
          <a:p>
            <a:pPr algn="l">
              <a:lnSpc>
                <a:spcPts val="3562"/>
              </a:lnSpc>
            </a:pPr>
            <a:r>
              <a:rPr lang="en-US" sz="2187">
                <a:solidFill>
                  <a:srgbClr val="3C3939"/>
                </a:solidFill>
                <a:latin typeface="Roboto"/>
                <a:ea typeface="Roboto"/>
                <a:cs typeface="Roboto"/>
                <a:sym typeface="Roboto"/>
              </a:rPr>
              <a:t>A comprehensive web application that empowers users to monitor their financial health through automated tracking, intelligent categorization, and interactive data visualization. Users can securely log transactions, analyze spending patterns, and make informed financial decisions.</a:t>
            </a:r>
          </a:p>
        </p:txBody>
      </p:sp>
      <p:sp>
        <p:nvSpPr>
          <p:cNvPr id="9" name="TextBox 9"/>
          <p:cNvSpPr txBox="1"/>
          <p:nvPr/>
        </p:nvSpPr>
        <p:spPr>
          <a:xfrm>
            <a:off x="9499397" y="4287441"/>
            <a:ext cx="4527947" cy="471487"/>
          </a:xfrm>
          <a:prstGeom prst="rect">
            <a:avLst/>
          </a:prstGeom>
        </p:spPr>
        <p:txBody>
          <a:bodyPr lIns="0" tIns="0" rIns="0" bIns="0" rtlCol="0" anchor="t">
            <a:spAutoFit/>
          </a:bodyPr>
          <a:lstStyle/>
          <a:p>
            <a:pPr algn="l">
              <a:lnSpc>
                <a:spcPts val="3437"/>
              </a:lnSpc>
            </a:pPr>
            <a:r>
              <a:rPr lang="en-US" sz="2750">
                <a:solidFill>
                  <a:srgbClr val="1B1B27"/>
                </a:solidFill>
                <a:latin typeface="Raleway"/>
                <a:ea typeface="Raleway"/>
                <a:cs typeface="Raleway"/>
                <a:sym typeface="Raleway"/>
              </a:rPr>
              <a:t>Why Build This Application?</a:t>
            </a:r>
          </a:p>
        </p:txBody>
      </p:sp>
      <p:sp>
        <p:nvSpPr>
          <p:cNvPr id="10" name="TextBox 10"/>
          <p:cNvSpPr txBox="1"/>
          <p:nvPr/>
        </p:nvSpPr>
        <p:spPr>
          <a:xfrm>
            <a:off x="9499397" y="4947199"/>
            <a:ext cx="7805890" cy="2363391"/>
          </a:xfrm>
          <a:prstGeom prst="rect">
            <a:avLst/>
          </a:prstGeom>
        </p:spPr>
        <p:txBody>
          <a:bodyPr lIns="0" tIns="0" rIns="0" bIns="0" rtlCol="0" anchor="t">
            <a:spAutoFit/>
          </a:bodyPr>
          <a:lstStyle/>
          <a:p>
            <a:pPr algn="l">
              <a:lnSpc>
                <a:spcPts val="3562"/>
              </a:lnSpc>
            </a:pPr>
            <a:r>
              <a:rPr lang="en-US" sz="2187">
                <a:solidFill>
                  <a:srgbClr val="3C3939"/>
                </a:solidFill>
                <a:latin typeface="Roboto"/>
                <a:ea typeface="Roboto"/>
                <a:cs typeface="Roboto"/>
                <a:sym typeface="Roboto"/>
              </a:rPr>
              <a:t>Traditional expense tracking methods are time-consuming and lack visual insights. This application bridges the gap between raw financial data and actionable intelligence, providing users with clear, real-time understanding of their money flow.</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CECF3"/>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sp>
        <p:nvSpPr>
          <p:cNvPr id="6" name="TextBox 6"/>
          <p:cNvSpPr txBox="1"/>
          <p:nvPr/>
        </p:nvSpPr>
        <p:spPr>
          <a:xfrm>
            <a:off x="992238" y="2314575"/>
            <a:ext cx="7088238" cy="914552"/>
          </a:xfrm>
          <a:prstGeom prst="rect">
            <a:avLst/>
          </a:prstGeom>
        </p:spPr>
        <p:txBody>
          <a:bodyPr lIns="0" tIns="0" rIns="0" bIns="0" rtlCol="0" anchor="t">
            <a:spAutoFit/>
          </a:bodyPr>
          <a:lstStyle/>
          <a:p>
            <a:pPr algn="l">
              <a:lnSpc>
                <a:spcPts val="6937"/>
              </a:lnSpc>
            </a:pPr>
            <a:r>
              <a:rPr lang="en-US" sz="5562">
                <a:solidFill>
                  <a:srgbClr val="1B1B27"/>
                </a:solidFill>
                <a:latin typeface="Raleway"/>
                <a:ea typeface="Raleway"/>
                <a:cs typeface="Raleway"/>
                <a:sym typeface="Raleway"/>
              </a:rPr>
              <a:t>The Challenge</a:t>
            </a:r>
          </a:p>
        </p:txBody>
      </p:sp>
      <p:grpSp>
        <p:nvGrpSpPr>
          <p:cNvPr id="7" name="Group 7"/>
          <p:cNvGrpSpPr/>
          <p:nvPr/>
        </p:nvGrpSpPr>
        <p:grpSpPr>
          <a:xfrm>
            <a:off x="987476" y="3791398"/>
            <a:ext cx="5254971" cy="4157215"/>
            <a:chOff x="0" y="0"/>
            <a:chExt cx="7006628" cy="5542953"/>
          </a:xfrm>
        </p:grpSpPr>
        <p:sp>
          <p:nvSpPr>
            <p:cNvPr id="8" name="Freeform 8"/>
            <p:cNvSpPr/>
            <p:nvPr/>
          </p:nvSpPr>
          <p:spPr>
            <a:xfrm>
              <a:off x="6350" y="6350"/>
              <a:ext cx="6993890" cy="5530215"/>
            </a:xfrm>
            <a:custGeom>
              <a:avLst/>
              <a:gdLst/>
              <a:ahLst/>
              <a:cxnLst/>
              <a:rect l="l" t="t" r="r" b="b"/>
              <a:pathLst>
                <a:path w="6993890" h="5530215">
                  <a:moveTo>
                    <a:pt x="0" y="158750"/>
                  </a:moveTo>
                  <a:cubicBezTo>
                    <a:pt x="0" y="71120"/>
                    <a:pt x="71120" y="0"/>
                    <a:pt x="158877" y="0"/>
                  </a:cubicBezTo>
                  <a:lnTo>
                    <a:pt x="6835140" y="0"/>
                  </a:lnTo>
                  <a:cubicBezTo>
                    <a:pt x="6922770" y="0"/>
                    <a:pt x="6993890" y="71120"/>
                    <a:pt x="6993890" y="158750"/>
                  </a:cubicBezTo>
                  <a:lnTo>
                    <a:pt x="6993890" y="5371465"/>
                  </a:lnTo>
                  <a:cubicBezTo>
                    <a:pt x="6993890" y="5459095"/>
                    <a:pt x="6922770" y="5530215"/>
                    <a:pt x="6835013" y="5530215"/>
                  </a:cubicBezTo>
                  <a:lnTo>
                    <a:pt x="158877" y="5530215"/>
                  </a:lnTo>
                  <a:cubicBezTo>
                    <a:pt x="71120" y="5530215"/>
                    <a:pt x="0" y="5459222"/>
                    <a:pt x="0" y="5371465"/>
                  </a:cubicBezTo>
                  <a:close/>
                </a:path>
              </a:pathLst>
            </a:custGeom>
            <a:solidFill>
              <a:srgbClr val="E1E1EA"/>
            </a:solidFill>
          </p:spPr>
        </p:sp>
        <p:sp>
          <p:nvSpPr>
            <p:cNvPr id="9" name="Freeform 9"/>
            <p:cNvSpPr/>
            <p:nvPr/>
          </p:nvSpPr>
          <p:spPr>
            <a:xfrm>
              <a:off x="0" y="0"/>
              <a:ext cx="7006717" cy="5542915"/>
            </a:xfrm>
            <a:custGeom>
              <a:avLst/>
              <a:gdLst/>
              <a:ahLst/>
              <a:cxnLst/>
              <a:rect l="l" t="t" r="r" b="b"/>
              <a:pathLst>
                <a:path w="7006717" h="5542915">
                  <a:moveTo>
                    <a:pt x="0" y="165100"/>
                  </a:moveTo>
                  <a:cubicBezTo>
                    <a:pt x="0" y="73914"/>
                    <a:pt x="73914" y="0"/>
                    <a:pt x="165227" y="0"/>
                  </a:cubicBezTo>
                  <a:lnTo>
                    <a:pt x="6841490" y="0"/>
                  </a:lnTo>
                  <a:lnTo>
                    <a:pt x="6841490" y="6350"/>
                  </a:lnTo>
                  <a:lnTo>
                    <a:pt x="6841490" y="0"/>
                  </a:lnTo>
                  <a:cubicBezTo>
                    <a:pt x="6932676" y="0"/>
                    <a:pt x="7006717" y="73914"/>
                    <a:pt x="7006717" y="165100"/>
                  </a:cubicBezTo>
                  <a:lnTo>
                    <a:pt x="7000367" y="165100"/>
                  </a:lnTo>
                  <a:lnTo>
                    <a:pt x="7006717" y="165100"/>
                  </a:lnTo>
                  <a:lnTo>
                    <a:pt x="7006717" y="5377815"/>
                  </a:lnTo>
                  <a:lnTo>
                    <a:pt x="7000367" y="5377815"/>
                  </a:lnTo>
                  <a:lnTo>
                    <a:pt x="7006717" y="5377815"/>
                  </a:lnTo>
                  <a:cubicBezTo>
                    <a:pt x="7006717" y="5469001"/>
                    <a:pt x="6932803" y="5542915"/>
                    <a:pt x="6841490" y="5542915"/>
                  </a:cubicBezTo>
                  <a:lnTo>
                    <a:pt x="6841490" y="5536565"/>
                  </a:lnTo>
                  <a:lnTo>
                    <a:pt x="6841490" y="5542915"/>
                  </a:lnTo>
                  <a:lnTo>
                    <a:pt x="165227" y="5542915"/>
                  </a:lnTo>
                  <a:lnTo>
                    <a:pt x="165227" y="5536565"/>
                  </a:lnTo>
                  <a:lnTo>
                    <a:pt x="165227" y="5542915"/>
                  </a:lnTo>
                  <a:cubicBezTo>
                    <a:pt x="74041" y="5542915"/>
                    <a:pt x="0" y="5469001"/>
                    <a:pt x="0" y="5377815"/>
                  </a:cubicBezTo>
                  <a:lnTo>
                    <a:pt x="0" y="165100"/>
                  </a:lnTo>
                  <a:lnTo>
                    <a:pt x="6350" y="165100"/>
                  </a:lnTo>
                  <a:lnTo>
                    <a:pt x="0" y="165100"/>
                  </a:lnTo>
                  <a:moveTo>
                    <a:pt x="12700" y="165100"/>
                  </a:moveTo>
                  <a:lnTo>
                    <a:pt x="12700" y="5377815"/>
                  </a:lnTo>
                  <a:lnTo>
                    <a:pt x="6350" y="5377815"/>
                  </a:lnTo>
                  <a:lnTo>
                    <a:pt x="12700" y="5377815"/>
                  </a:lnTo>
                  <a:cubicBezTo>
                    <a:pt x="12700" y="5462016"/>
                    <a:pt x="81026" y="5530215"/>
                    <a:pt x="165227" y="5530215"/>
                  </a:cubicBezTo>
                  <a:lnTo>
                    <a:pt x="6841490" y="5530215"/>
                  </a:lnTo>
                  <a:cubicBezTo>
                    <a:pt x="6925691" y="5530215"/>
                    <a:pt x="6994017" y="5462016"/>
                    <a:pt x="6994017" y="5377815"/>
                  </a:cubicBezTo>
                  <a:lnTo>
                    <a:pt x="6994017" y="165100"/>
                  </a:lnTo>
                  <a:cubicBezTo>
                    <a:pt x="6994017" y="80899"/>
                    <a:pt x="6925691" y="12700"/>
                    <a:pt x="6841490" y="12700"/>
                  </a:cubicBezTo>
                  <a:lnTo>
                    <a:pt x="165227" y="12700"/>
                  </a:lnTo>
                  <a:lnTo>
                    <a:pt x="165227" y="6350"/>
                  </a:lnTo>
                  <a:lnTo>
                    <a:pt x="165227" y="12700"/>
                  </a:lnTo>
                  <a:cubicBezTo>
                    <a:pt x="81026" y="12700"/>
                    <a:pt x="12700" y="80899"/>
                    <a:pt x="12700" y="165100"/>
                  </a:cubicBezTo>
                  <a:close/>
                </a:path>
              </a:pathLst>
            </a:custGeom>
            <a:solidFill>
              <a:srgbClr val="C7C7D0"/>
            </a:solidFill>
          </p:spPr>
        </p:sp>
      </p:grpSp>
      <p:grpSp>
        <p:nvGrpSpPr>
          <p:cNvPr id="10" name="Group 10"/>
          <p:cNvGrpSpPr/>
          <p:nvPr/>
        </p:nvGrpSpPr>
        <p:grpSpPr>
          <a:xfrm>
            <a:off x="1285284" y="4089197"/>
            <a:ext cx="850554" cy="850554"/>
            <a:chOff x="0" y="0"/>
            <a:chExt cx="1134072" cy="1134072"/>
          </a:xfrm>
        </p:grpSpPr>
        <p:sp>
          <p:nvSpPr>
            <p:cNvPr id="11" name="Freeform 11"/>
            <p:cNvSpPr/>
            <p:nvPr/>
          </p:nvSpPr>
          <p:spPr>
            <a:xfrm>
              <a:off x="0" y="0"/>
              <a:ext cx="1134110" cy="1134110"/>
            </a:xfrm>
            <a:custGeom>
              <a:avLst/>
              <a:gdLst/>
              <a:ahLst/>
              <a:cxnLst/>
              <a:rect l="l" t="t" r="r" b="b"/>
              <a:pathLst>
                <a:path w="1134110" h="1134110">
                  <a:moveTo>
                    <a:pt x="0" y="567055"/>
                  </a:moveTo>
                  <a:cubicBezTo>
                    <a:pt x="0" y="253873"/>
                    <a:pt x="253873" y="0"/>
                    <a:pt x="567055" y="0"/>
                  </a:cubicBezTo>
                  <a:cubicBezTo>
                    <a:pt x="880237" y="0"/>
                    <a:pt x="1134110" y="253873"/>
                    <a:pt x="1134110" y="567055"/>
                  </a:cubicBezTo>
                  <a:cubicBezTo>
                    <a:pt x="1134110" y="880237"/>
                    <a:pt x="880237" y="1134110"/>
                    <a:pt x="567055" y="1134110"/>
                  </a:cubicBezTo>
                  <a:cubicBezTo>
                    <a:pt x="253873" y="1134110"/>
                    <a:pt x="0" y="880237"/>
                    <a:pt x="0" y="567055"/>
                  </a:cubicBezTo>
                  <a:close/>
                </a:path>
              </a:pathLst>
            </a:custGeom>
            <a:solidFill>
              <a:srgbClr val="1B1B27"/>
            </a:solidFill>
          </p:spPr>
        </p:sp>
      </p:grpSp>
      <p:sp>
        <p:nvSpPr>
          <p:cNvPr id="12" name="TextBox 12"/>
          <p:cNvSpPr txBox="1"/>
          <p:nvPr/>
        </p:nvSpPr>
        <p:spPr>
          <a:xfrm>
            <a:off x="1285284" y="5194697"/>
            <a:ext cx="3954066" cy="471487"/>
          </a:xfrm>
          <a:prstGeom prst="rect">
            <a:avLst/>
          </a:prstGeom>
        </p:spPr>
        <p:txBody>
          <a:bodyPr lIns="0" tIns="0" rIns="0" bIns="0" rtlCol="0" anchor="t">
            <a:spAutoFit/>
          </a:bodyPr>
          <a:lstStyle/>
          <a:p>
            <a:pPr algn="l">
              <a:lnSpc>
                <a:spcPts val="3437"/>
              </a:lnSpc>
            </a:pPr>
            <a:r>
              <a:rPr lang="en-US" sz="2750">
                <a:solidFill>
                  <a:srgbClr val="3C3939"/>
                </a:solidFill>
                <a:latin typeface="Raleway"/>
                <a:ea typeface="Raleway"/>
                <a:cs typeface="Raleway"/>
                <a:sym typeface="Raleway"/>
              </a:rPr>
              <a:t>Manual Tracking Burden</a:t>
            </a:r>
          </a:p>
        </p:txBody>
      </p:sp>
      <p:sp>
        <p:nvSpPr>
          <p:cNvPr id="13" name="TextBox 13"/>
          <p:cNvSpPr txBox="1"/>
          <p:nvPr/>
        </p:nvSpPr>
        <p:spPr>
          <a:xfrm>
            <a:off x="1285284" y="5741041"/>
            <a:ext cx="4659363" cy="1909762"/>
          </a:xfrm>
          <a:prstGeom prst="rect">
            <a:avLst/>
          </a:prstGeom>
        </p:spPr>
        <p:txBody>
          <a:bodyPr lIns="0" tIns="0" rIns="0" bIns="0" rtlCol="0" anchor="t">
            <a:spAutoFit/>
          </a:bodyPr>
          <a:lstStyle/>
          <a:p>
            <a:pPr algn="l">
              <a:lnSpc>
                <a:spcPts val="3562"/>
              </a:lnSpc>
            </a:pPr>
            <a:r>
              <a:rPr lang="en-US" sz="2187">
                <a:solidFill>
                  <a:srgbClr val="3C3939"/>
                </a:solidFill>
                <a:latin typeface="Roboto"/>
                <a:ea typeface="Roboto"/>
                <a:cs typeface="Roboto"/>
                <a:sym typeface="Roboto"/>
              </a:rPr>
              <a:t>Spreadsheets and notebooks require constant manual updates, leading to data entry fatigue and inconsistent record-keeping</a:t>
            </a:r>
          </a:p>
        </p:txBody>
      </p:sp>
      <p:grpSp>
        <p:nvGrpSpPr>
          <p:cNvPr id="14" name="Group 14"/>
          <p:cNvGrpSpPr/>
          <p:nvPr/>
        </p:nvGrpSpPr>
        <p:grpSpPr>
          <a:xfrm>
            <a:off x="6516443" y="3791398"/>
            <a:ext cx="5254971" cy="4157215"/>
            <a:chOff x="0" y="0"/>
            <a:chExt cx="7006628" cy="5542953"/>
          </a:xfrm>
        </p:grpSpPr>
        <p:sp>
          <p:nvSpPr>
            <p:cNvPr id="15" name="Freeform 15"/>
            <p:cNvSpPr/>
            <p:nvPr/>
          </p:nvSpPr>
          <p:spPr>
            <a:xfrm>
              <a:off x="6350" y="6350"/>
              <a:ext cx="6993890" cy="5530215"/>
            </a:xfrm>
            <a:custGeom>
              <a:avLst/>
              <a:gdLst/>
              <a:ahLst/>
              <a:cxnLst/>
              <a:rect l="l" t="t" r="r" b="b"/>
              <a:pathLst>
                <a:path w="6993890" h="5530215">
                  <a:moveTo>
                    <a:pt x="0" y="158750"/>
                  </a:moveTo>
                  <a:cubicBezTo>
                    <a:pt x="0" y="71120"/>
                    <a:pt x="71120" y="0"/>
                    <a:pt x="158877" y="0"/>
                  </a:cubicBezTo>
                  <a:lnTo>
                    <a:pt x="6835140" y="0"/>
                  </a:lnTo>
                  <a:cubicBezTo>
                    <a:pt x="6922770" y="0"/>
                    <a:pt x="6993890" y="71120"/>
                    <a:pt x="6993890" y="158750"/>
                  </a:cubicBezTo>
                  <a:lnTo>
                    <a:pt x="6993890" y="5371465"/>
                  </a:lnTo>
                  <a:cubicBezTo>
                    <a:pt x="6993890" y="5459095"/>
                    <a:pt x="6922770" y="5530215"/>
                    <a:pt x="6835013" y="5530215"/>
                  </a:cubicBezTo>
                  <a:lnTo>
                    <a:pt x="158877" y="5530215"/>
                  </a:lnTo>
                  <a:cubicBezTo>
                    <a:pt x="71120" y="5530215"/>
                    <a:pt x="0" y="5459222"/>
                    <a:pt x="0" y="5371465"/>
                  </a:cubicBezTo>
                  <a:close/>
                </a:path>
              </a:pathLst>
            </a:custGeom>
            <a:solidFill>
              <a:srgbClr val="E1E1EA"/>
            </a:solidFill>
          </p:spPr>
        </p:sp>
        <p:sp>
          <p:nvSpPr>
            <p:cNvPr id="16" name="Freeform 16"/>
            <p:cNvSpPr/>
            <p:nvPr/>
          </p:nvSpPr>
          <p:spPr>
            <a:xfrm>
              <a:off x="0" y="0"/>
              <a:ext cx="7006717" cy="5542915"/>
            </a:xfrm>
            <a:custGeom>
              <a:avLst/>
              <a:gdLst/>
              <a:ahLst/>
              <a:cxnLst/>
              <a:rect l="l" t="t" r="r" b="b"/>
              <a:pathLst>
                <a:path w="7006717" h="5542915">
                  <a:moveTo>
                    <a:pt x="0" y="165100"/>
                  </a:moveTo>
                  <a:cubicBezTo>
                    <a:pt x="0" y="73914"/>
                    <a:pt x="73914" y="0"/>
                    <a:pt x="165227" y="0"/>
                  </a:cubicBezTo>
                  <a:lnTo>
                    <a:pt x="6841490" y="0"/>
                  </a:lnTo>
                  <a:lnTo>
                    <a:pt x="6841490" y="6350"/>
                  </a:lnTo>
                  <a:lnTo>
                    <a:pt x="6841490" y="0"/>
                  </a:lnTo>
                  <a:cubicBezTo>
                    <a:pt x="6932676" y="0"/>
                    <a:pt x="7006717" y="73914"/>
                    <a:pt x="7006717" y="165100"/>
                  </a:cubicBezTo>
                  <a:lnTo>
                    <a:pt x="7000367" y="165100"/>
                  </a:lnTo>
                  <a:lnTo>
                    <a:pt x="7006717" y="165100"/>
                  </a:lnTo>
                  <a:lnTo>
                    <a:pt x="7006717" y="5377815"/>
                  </a:lnTo>
                  <a:lnTo>
                    <a:pt x="7000367" y="5377815"/>
                  </a:lnTo>
                  <a:lnTo>
                    <a:pt x="7006717" y="5377815"/>
                  </a:lnTo>
                  <a:cubicBezTo>
                    <a:pt x="7006717" y="5469001"/>
                    <a:pt x="6932803" y="5542915"/>
                    <a:pt x="6841490" y="5542915"/>
                  </a:cubicBezTo>
                  <a:lnTo>
                    <a:pt x="6841490" y="5536565"/>
                  </a:lnTo>
                  <a:lnTo>
                    <a:pt x="6841490" y="5542915"/>
                  </a:lnTo>
                  <a:lnTo>
                    <a:pt x="165227" y="5542915"/>
                  </a:lnTo>
                  <a:lnTo>
                    <a:pt x="165227" y="5536565"/>
                  </a:lnTo>
                  <a:lnTo>
                    <a:pt x="165227" y="5542915"/>
                  </a:lnTo>
                  <a:cubicBezTo>
                    <a:pt x="74041" y="5542915"/>
                    <a:pt x="0" y="5469001"/>
                    <a:pt x="0" y="5377815"/>
                  </a:cubicBezTo>
                  <a:lnTo>
                    <a:pt x="0" y="165100"/>
                  </a:lnTo>
                  <a:lnTo>
                    <a:pt x="6350" y="165100"/>
                  </a:lnTo>
                  <a:lnTo>
                    <a:pt x="0" y="165100"/>
                  </a:lnTo>
                  <a:moveTo>
                    <a:pt x="12700" y="165100"/>
                  </a:moveTo>
                  <a:lnTo>
                    <a:pt x="12700" y="5377815"/>
                  </a:lnTo>
                  <a:lnTo>
                    <a:pt x="6350" y="5377815"/>
                  </a:lnTo>
                  <a:lnTo>
                    <a:pt x="12700" y="5377815"/>
                  </a:lnTo>
                  <a:cubicBezTo>
                    <a:pt x="12700" y="5462016"/>
                    <a:pt x="81026" y="5530215"/>
                    <a:pt x="165227" y="5530215"/>
                  </a:cubicBezTo>
                  <a:lnTo>
                    <a:pt x="6841490" y="5530215"/>
                  </a:lnTo>
                  <a:cubicBezTo>
                    <a:pt x="6925691" y="5530215"/>
                    <a:pt x="6994017" y="5462016"/>
                    <a:pt x="6994017" y="5377815"/>
                  </a:cubicBezTo>
                  <a:lnTo>
                    <a:pt x="6994017" y="165100"/>
                  </a:lnTo>
                  <a:cubicBezTo>
                    <a:pt x="6994017" y="80899"/>
                    <a:pt x="6925691" y="12700"/>
                    <a:pt x="6841490" y="12700"/>
                  </a:cubicBezTo>
                  <a:lnTo>
                    <a:pt x="165227" y="12700"/>
                  </a:lnTo>
                  <a:lnTo>
                    <a:pt x="165227" y="6350"/>
                  </a:lnTo>
                  <a:lnTo>
                    <a:pt x="165227" y="12700"/>
                  </a:lnTo>
                  <a:cubicBezTo>
                    <a:pt x="81026" y="12700"/>
                    <a:pt x="12700" y="80899"/>
                    <a:pt x="12700" y="165100"/>
                  </a:cubicBezTo>
                  <a:close/>
                </a:path>
              </a:pathLst>
            </a:custGeom>
            <a:solidFill>
              <a:srgbClr val="C7C7D0"/>
            </a:solidFill>
          </p:spPr>
        </p:sp>
      </p:grpSp>
      <p:grpSp>
        <p:nvGrpSpPr>
          <p:cNvPr id="17" name="Group 17"/>
          <p:cNvGrpSpPr/>
          <p:nvPr/>
        </p:nvGrpSpPr>
        <p:grpSpPr>
          <a:xfrm>
            <a:off x="6814242" y="4089197"/>
            <a:ext cx="850554" cy="850554"/>
            <a:chOff x="0" y="0"/>
            <a:chExt cx="1134072" cy="1134072"/>
          </a:xfrm>
        </p:grpSpPr>
        <p:sp>
          <p:nvSpPr>
            <p:cNvPr id="18" name="Freeform 18"/>
            <p:cNvSpPr/>
            <p:nvPr/>
          </p:nvSpPr>
          <p:spPr>
            <a:xfrm>
              <a:off x="0" y="0"/>
              <a:ext cx="1134110" cy="1134110"/>
            </a:xfrm>
            <a:custGeom>
              <a:avLst/>
              <a:gdLst/>
              <a:ahLst/>
              <a:cxnLst/>
              <a:rect l="l" t="t" r="r" b="b"/>
              <a:pathLst>
                <a:path w="1134110" h="1134110">
                  <a:moveTo>
                    <a:pt x="0" y="567055"/>
                  </a:moveTo>
                  <a:cubicBezTo>
                    <a:pt x="0" y="253873"/>
                    <a:pt x="253873" y="0"/>
                    <a:pt x="567055" y="0"/>
                  </a:cubicBezTo>
                  <a:cubicBezTo>
                    <a:pt x="880237" y="0"/>
                    <a:pt x="1134110" y="253873"/>
                    <a:pt x="1134110" y="567055"/>
                  </a:cubicBezTo>
                  <a:cubicBezTo>
                    <a:pt x="1134110" y="880237"/>
                    <a:pt x="880237" y="1134110"/>
                    <a:pt x="567055" y="1134110"/>
                  </a:cubicBezTo>
                  <a:cubicBezTo>
                    <a:pt x="253873" y="1134110"/>
                    <a:pt x="0" y="880237"/>
                    <a:pt x="0" y="567055"/>
                  </a:cubicBezTo>
                  <a:close/>
                </a:path>
              </a:pathLst>
            </a:custGeom>
            <a:solidFill>
              <a:srgbClr val="1B1B27"/>
            </a:solidFill>
          </p:spPr>
        </p:sp>
      </p:grpSp>
      <p:sp>
        <p:nvSpPr>
          <p:cNvPr id="19" name="TextBox 19"/>
          <p:cNvSpPr txBox="1"/>
          <p:nvPr/>
        </p:nvSpPr>
        <p:spPr>
          <a:xfrm>
            <a:off x="6814242" y="5194697"/>
            <a:ext cx="3632892" cy="471487"/>
          </a:xfrm>
          <a:prstGeom prst="rect">
            <a:avLst/>
          </a:prstGeom>
        </p:spPr>
        <p:txBody>
          <a:bodyPr lIns="0" tIns="0" rIns="0" bIns="0" rtlCol="0" anchor="t">
            <a:spAutoFit/>
          </a:bodyPr>
          <a:lstStyle/>
          <a:p>
            <a:pPr algn="l">
              <a:lnSpc>
                <a:spcPts val="3437"/>
              </a:lnSpc>
            </a:pPr>
            <a:r>
              <a:rPr lang="en-US" sz="2750">
                <a:solidFill>
                  <a:srgbClr val="3C3939"/>
                </a:solidFill>
                <a:latin typeface="Raleway"/>
                <a:ea typeface="Raleway"/>
                <a:cs typeface="Raleway"/>
                <a:sym typeface="Raleway"/>
              </a:rPr>
              <a:t>Limited Visual Insights</a:t>
            </a:r>
          </a:p>
        </p:txBody>
      </p:sp>
      <p:sp>
        <p:nvSpPr>
          <p:cNvPr id="20" name="TextBox 20"/>
          <p:cNvSpPr txBox="1"/>
          <p:nvPr/>
        </p:nvSpPr>
        <p:spPr>
          <a:xfrm>
            <a:off x="6814242" y="5741041"/>
            <a:ext cx="4659363" cy="1909762"/>
          </a:xfrm>
          <a:prstGeom prst="rect">
            <a:avLst/>
          </a:prstGeom>
        </p:spPr>
        <p:txBody>
          <a:bodyPr lIns="0" tIns="0" rIns="0" bIns="0" rtlCol="0" anchor="t">
            <a:spAutoFit/>
          </a:bodyPr>
          <a:lstStyle/>
          <a:p>
            <a:pPr algn="l">
              <a:lnSpc>
                <a:spcPts val="3562"/>
              </a:lnSpc>
            </a:pPr>
            <a:r>
              <a:rPr lang="en-US" sz="2187">
                <a:solidFill>
                  <a:srgbClr val="3C3939"/>
                </a:solidFill>
                <a:latin typeface="Roboto"/>
                <a:ea typeface="Roboto"/>
                <a:cs typeface="Roboto"/>
                <a:sym typeface="Roboto"/>
              </a:rPr>
              <a:t>Traditional methods fail to provide intuitive visual representations of spending patterns and financial trends</a:t>
            </a:r>
          </a:p>
        </p:txBody>
      </p:sp>
      <p:grpSp>
        <p:nvGrpSpPr>
          <p:cNvPr id="21" name="Group 21"/>
          <p:cNvGrpSpPr/>
          <p:nvPr/>
        </p:nvGrpSpPr>
        <p:grpSpPr>
          <a:xfrm>
            <a:off x="12045401" y="3791398"/>
            <a:ext cx="5254971" cy="4157215"/>
            <a:chOff x="0" y="0"/>
            <a:chExt cx="7006628" cy="5542953"/>
          </a:xfrm>
        </p:grpSpPr>
        <p:sp>
          <p:nvSpPr>
            <p:cNvPr id="22" name="Freeform 22"/>
            <p:cNvSpPr/>
            <p:nvPr/>
          </p:nvSpPr>
          <p:spPr>
            <a:xfrm>
              <a:off x="6350" y="6350"/>
              <a:ext cx="6993890" cy="5530215"/>
            </a:xfrm>
            <a:custGeom>
              <a:avLst/>
              <a:gdLst/>
              <a:ahLst/>
              <a:cxnLst/>
              <a:rect l="l" t="t" r="r" b="b"/>
              <a:pathLst>
                <a:path w="6993890" h="5530215">
                  <a:moveTo>
                    <a:pt x="0" y="158750"/>
                  </a:moveTo>
                  <a:cubicBezTo>
                    <a:pt x="0" y="71120"/>
                    <a:pt x="71120" y="0"/>
                    <a:pt x="158877" y="0"/>
                  </a:cubicBezTo>
                  <a:lnTo>
                    <a:pt x="6835140" y="0"/>
                  </a:lnTo>
                  <a:cubicBezTo>
                    <a:pt x="6922770" y="0"/>
                    <a:pt x="6993890" y="71120"/>
                    <a:pt x="6993890" y="158750"/>
                  </a:cubicBezTo>
                  <a:lnTo>
                    <a:pt x="6993890" y="5371465"/>
                  </a:lnTo>
                  <a:cubicBezTo>
                    <a:pt x="6993890" y="5459095"/>
                    <a:pt x="6922770" y="5530215"/>
                    <a:pt x="6835013" y="5530215"/>
                  </a:cubicBezTo>
                  <a:lnTo>
                    <a:pt x="158877" y="5530215"/>
                  </a:lnTo>
                  <a:cubicBezTo>
                    <a:pt x="71120" y="5530215"/>
                    <a:pt x="0" y="5459222"/>
                    <a:pt x="0" y="5371465"/>
                  </a:cubicBezTo>
                  <a:close/>
                </a:path>
              </a:pathLst>
            </a:custGeom>
            <a:solidFill>
              <a:srgbClr val="E1E1EA"/>
            </a:solidFill>
          </p:spPr>
        </p:sp>
        <p:sp>
          <p:nvSpPr>
            <p:cNvPr id="23" name="Freeform 23"/>
            <p:cNvSpPr/>
            <p:nvPr/>
          </p:nvSpPr>
          <p:spPr>
            <a:xfrm>
              <a:off x="0" y="0"/>
              <a:ext cx="7006717" cy="5542915"/>
            </a:xfrm>
            <a:custGeom>
              <a:avLst/>
              <a:gdLst/>
              <a:ahLst/>
              <a:cxnLst/>
              <a:rect l="l" t="t" r="r" b="b"/>
              <a:pathLst>
                <a:path w="7006717" h="5542915">
                  <a:moveTo>
                    <a:pt x="0" y="165100"/>
                  </a:moveTo>
                  <a:cubicBezTo>
                    <a:pt x="0" y="73914"/>
                    <a:pt x="73914" y="0"/>
                    <a:pt x="165227" y="0"/>
                  </a:cubicBezTo>
                  <a:lnTo>
                    <a:pt x="6841490" y="0"/>
                  </a:lnTo>
                  <a:lnTo>
                    <a:pt x="6841490" y="6350"/>
                  </a:lnTo>
                  <a:lnTo>
                    <a:pt x="6841490" y="0"/>
                  </a:lnTo>
                  <a:cubicBezTo>
                    <a:pt x="6932676" y="0"/>
                    <a:pt x="7006717" y="73914"/>
                    <a:pt x="7006717" y="165100"/>
                  </a:cubicBezTo>
                  <a:lnTo>
                    <a:pt x="7000367" y="165100"/>
                  </a:lnTo>
                  <a:lnTo>
                    <a:pt x="7006717" y="165100"/>
                  </a:lnTo>
                  <a:lnTo>
                    <a:pt x="7006717" y="5377815"/>
                  </a:lnTo>
                  <a:lnTo>
                    <a:pt x="7000367" y="5377815"/>
                  </a:lnTo>
                  <a:lnTo>
                    <a:pt x="7006717" y="5377815"/>
                  </a:lnTo>
                  <a:cubicBezTo>
                    <a:pt x="7006717" y="5469001"/>
                    <a:pt x="6932803" y="5542915"/>
                    <a:pt x="6841490" y="5542915"/>
                  </a:cubicBezTo>
                  <a:lnTo>
                    <a:pt x="6841490" y="5536565"/>
                  </a:lnTo>
                  <a:lnTo>
                    <a:pt x="6841490" y="5542915"/>
                  </a:lnTo>
                  <a:lnTo>
                    <a:pt x="165227" y="5542915"/>
                  </a:lnTo>
                  <a:lnTo>
                    <a:pt x="165227" y="5536565"/>
                  </a:lnTo>
                  <a:lnTo>
                    <a:pt x="165227" y="5542915"/>
                  </a:lnTo>
                  <a:cubicBezTo>
                    <a:pt x="74041" y="5542915"/>
                    <a:pt x="0" y="5469001"/>
                    <a:pt x="0" y="5377815"/>
                  </a:cubicBezTo>
                  <a:lnTo>
                    <a:pt x="0" y="165100"/>
                  </a:lnTo>
                  <a:lnTo>
                    <a:pt x="6350" y="165100"/>
                  </a:lnTo>
                  <a:lnTo>
                    <a:pt x="0" y="165100"/>
                  </a:lnTo>
                  <a:moveTo>
                    <a:pt x="12700" y="165100"/>
                  </a:moveTo>
                  <a:lnTo>
                    <a:pt x="12700" y="5377815"/>
                  </a:lnTo>
                  <a:lnTo>
                    <a:pt x="6350" y="5377815"/>
                  </a:lnTo>
                  <a:lnTo>
                    <a:pt x="12700" y="5377815"/>
                  </a:lnTo>
                  <a:cubicBezTo>
                    <a:pt x="12700" y="5462016"/>
                    <a:pt x="81026" y="5530215"/>
                    <a:pt x="165227" y="5530215"/>
                  </a:cubicBezTo>
                  <a:lnTo>
                    <a:pt x="6841490" y="5530215"/>
                  </a:lnTo>
                  <a:cubicBezTo>
                    <a:pt x="6925691" y="5530215"/>
                    <a:pt x="6994017" y="5462016"/>
                    <a:pt x="6994017" y="5377815"/>
                  </a:cubicBezTo>
                  <a:lnTo>
                    <a:pt x="6994017" y="165100"/>
                  </a:lnTo>
                  <a:cubicBezTo>
                    <a:pt x="6994017" y="80899"/>
                    <a:pt x="6925691" y="12700"/>
                    <a:pt x="6841490" y="12700"/>
                  </a:cubicBezTo>
                  <a:lnTo>
                    <a:pt x="165227" y="12700"/>
                  </a:lnTo>
                  <a:lnTo>
                    <a:pt x="165227" y="6350"/>
                  </a:lnTo>
                  <a:lnTo>
                    <a:pt x="165227" y="12700"/>
                  </a:lnTo>
                  <a:cubicBezTo>
                    <a:pt x="81026" y="12700"/>
                    <a:pt x="12700" y="80899"/>
                    <a:pt x="12700" y="165100"/>
                  </a:cubicBezTo>
                  <a:close/>
                </a:path>
              </a:pathLst>
            </a:custGeom>
            <a:solidFill>
              <a:srgbClr val="C7C7D0"/>
            </a:solidFill>
          </p:spPr>
        </p:sp>
      </p:grpSp>
      <p:grpSp>
        <p:nvGrpSpPr>
          <p:cNvPr id="24" name="Group 24"/>
          <p:cNvGrpSpPr/>
          <p:nvPr/>
        </p:nvGrpSpPr>
        <p:grpSpPr>
          <a:xfrm>
            <a:off x="12343209" y="4089197"/>
            <a:ext cx="850554" cy="850554"/>
            <a:chOff x="0" y="0"/>
            <a:chExt cx="1134072" cy="1134072"/>
          </a:xfrm>
        </p:grpSpPr>
        <p:sp>
          <p:nvSpPr>
            <p:cNvPr id="25" name="Freeform 25"/>
            <p:cNvSpPr/>
            <p:nvPr/>
          </p:nvSpPr>
          <p:spPr>
            <a:xfrm>
              <a:off x="0" y="0"/>
              <a:ext cx="1134110" cy="1134110"/>
            </a:xfrm>
            <a:custGeom>
              <a:avLst/>
              <a:gdLst/>
              <a:ahLst/>
              <a:cxnLst/>
              <a:rect l="l" t="t" r="r" b="b"/>
              <a:pathLst>
                <a:path w="1134110" h="1134110">
                  <a:moveTo>
                    <a:pt x="0" y="567055"/>
                  </a:moveTo>
                  <a:cubicBezTo>
                    <a:pt x="0" y="253873"/>
                    <a:pt x="253873" y="0"/>
                    <a:pt x="567055" y="0"/>
                  </a:cubicBezTo>
                  <a:cubicBezTo>
                    <a:pt x="880237" y="0"/>
                    <a:pt x="1134110" y="253873"/>
                    <a:pt x="1134110" y="567055"/>
                  </a:cubicBezTo>
                  <a:cubicBezTo>
                    <a:pt x="1134110" y="880237"/>
                    <a:pt x="880237" y="1134110"/>
                    <a:pt x="567055" y="1134110"/>
                  </a:cubicBezTo>
                  <a:cubicBezTo>
                    <a:pt x="253873" y="1134110"/>
                    <a:pt x="0" y="880237"/>
                    <a:pt x="0" y="567055"/>
                  </a:cubicBezTo>
                  <a:close/>
                </a:path>
              </a:pathLst>
            </a:custGeom>
            <a:solidFill>
              <a:srgbClr val="1B1B27"/>
            </a:solidFill>
          </p:spPr>
        </p:sp>
      </p:grpSp>
      <p:sp>
        <p:nvSpPr>
          <p:cNvPr id="26" name="TextBox 26"/>
          <p:cNvSpPr txBox="1"/>
          <p:nvPr/>
        </p:nvSpPr>
        <p:spPr>
          <a:xfrm>
            <a:off x="12343209" y="5194697"/>
            <a:ext cx="3829050" cy="471487"/>
          </a:xfrm>
          <a:prstGeom prst="rect">
            <a:avLst/>
          </a:prstGeom>
        </p:spPr>
        <p:txBody>
          <a:bodyPr lIns="0" tIns="0" rIns="0" bIns="0" rtlCol="0" anchor="t">
            <a:spAutoFit/>
          </a:bodyPr>
          <a:lstStyle/>
          <a:p>
            <a:pPr algn="l">
              <a:lnSpc>
                <a:spcPts val="3437"/>
              </a:lnSpc>
            </a:pPr>
            <a:r>
              <a:rPr lang="en-US" sz="2750">
                <a:solidFill>
                  <a:srgbClr val="3C3939"/>
                </a:solidFill>
                <a:latin typeface="Raleway"/>
                <a:ea typeface="Raleway"/>
                <a:cs typeface="Raleway"/>
                <a:sym typeface="Raleway"/>
              </a:rPr>
              <a:t>Data Security Concerns</a:t>
            </a:r>
          </a:p>
        </p:txBody>
      </p:sp>
      <p:sp>
        <p:nvSpPr>
          <p:cNvPr id="27" name="TextBox 27"/>
          <p:cNvSpPr txBox="1"/>
          <p:nvPr/>
        </p:nvSpPr>
        <p:spPr>
          <a:xfrm>
            <a:off x="12343209" y="5741041"/>
            <a:ext cx="4659363" cy="1909762"/>
          </a:xfrm>
          <a:prstGeom prst="rect">
            <a:avLst/>
          </a:prstGeom>
        </p:spPr>
        <p:txBody>
          <a:bodyPr lIns="0" tIns="0" rIns="0" bIns="0" rtlCol="0" anchor="t">
            <a:spAutoFit/>
          </a:bodyPr>
          <a:lstStyle/>
          <a:p>
            <a:pPr algn="l">
              <a:lnSpc>
                <a:spcPts val="3562"/>
              </a:lnSpc>
            </a:pPr>
            <a:r>
              <a:rPr lang="en-US" sz="2187">
                <a:solidFill>
                  <a:srgbClr val="3C3939"/>
                </a:solidFill>
                <a:latin typeface="Roboto"/>
                <a:ea typeface="Roboto"/>
                <a:cs typeface="Roboto"/>
                <a:sym typeface="Roboto"/>
              </a:rPr>
              <a:t>Spreadsheets lack proper authentication and encryption, exposing sensitive financial information to unauthorized access</a:t>
            </a:r>
          </a:p>
        </p:txBody>
      </p:sp>
      <p:pic>
        <p:nvPicPr>
          <p:cNvPr id="29" name="Image 0" descr="preencoded.png">
            <a:extLst>
              <a:ext uri="{FF2B5EF4-FFF2-40B4-BE49-F238E27FC236}">
                <a16:creationId xmlns:a16="http://schemas.microsoft.com/office/drawing/2014/main" id="{83282011-C584-04C7-FAC3-61EEFBB1908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24000" y="4183202"/>
            <a:ext cx="453064" cy="453064"/>
          </a:xfrm>
          <a:prstGeom prst="rect">
            <a:avLst/>
          </a:prstGeom>
        </p:spPr>
      </p:pic>
      <p:pic>
        <p:nvPicPr>
          <p:cNvPr id="30" name="Image 1" descr="preencoded.png">
            <a:extLst>
              <a:ext uri="{FF2B5EF4-FFF2-40B4-BE49-F238E27FC236}">
                <a16:creationId xmlns:a16="http://schemas.microsoft.com/office/drawing/2014/main" id="{CF7630A8-BCF1-2559-5A4A-9ADB587B44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034954" y="4246195"/>
            <a:ext cx="390071" cy="390071"/>
          </a:xfrm>
          <a:prstGeom prst="rect">
            <a:avLst/>
          </a:prstGeom>
        </p:spPr>
      </p:pic>
      <p:pic>
        <p:nvPicPr>
          <p:cNvPr id="31" name="Image 2" descr="preencoded.png">
            <a:extLst>
              <a:ext uri="{FF2B5EF4-FFF2-40B4-BE49-F238E27FC236}">
                <a16:creationId xmlns:a16="http://schemas.microsoft.com/office/drawing/2014/main" id="{23D5420C-A70F-BDE7-3B84-E7937A4C33F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73000" y="4246195"/>
            <a:ext cx="414755" cy="41475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CECF3"/>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grpSp>
        <p:nvGrpSpPr>
          <p:cNvPr id="6" name="Group 6"/>
          <p:cNvGrpSpPr/>
          <p:nvPr/>
        </p:nvGrpSpPr>
        <p:grpSpPr>
          <a:xfrm>
            <a:off x="1143000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2"/>
              <a:stretch>
                <a:fillRect/>
              </a:stretch>
            </a:blipFill>
          </p:spPr>
        </p:sp>
      </p:grpSp>
      <p:sp>
        <p:nvSpPr>
          <p:cNvPr id="8" name="TextBox 8"/>
          <p:cNvSpPr txBox="1"/>
          <p:nvPr/>
        </p:nvSpPr>
        <p:spPr>
          <a:xfrm>
            <a:off x="883739" y="845496"/>
            <a:ext cx="6312989" cy="817664"/>
          </a:xfrm>
          <a:prstGeom prst="rect">
            <a:avLst/>
          </a:prstGeom>
        </p:spPr>
        <p:txBody>
          <a:bodyPr lIns="0" tIns="0" rIns="0" bIns="0" rtlCol="0" anchor="t">
            <a:spAutoFit/>
          </a:bodyPr>
          <a:lstStyle/>
          <a:p>
            <a:pPr algn="l">
              <a:lnSpc>
                <a:spcPts val="6187"/>
              </a:lnSpc>
            </a:pPr>
            <a:r>
              <a:rPr lang="en-US" sz="4937">
                <a:solidFill>
                  <a:srgbClr val="1B1B27"/>
                </a:solidFill>
                <a:latin typeface="Raleway"/>
                <a:ea typeface="Raleway"/>
                <a:cs typeface="Raleway"/>
                <a:sym typeface="Raleway"/>
              </a:rPr>
              <a:t>Our Solution</a:t>
            </a:r>
          </a:p>
        </p:txBody>
      </p:sp>
      <p:sp>
        <p:nvSpPr>
          <p:cNvPr id="9" name="TextBox 9"/>
          <p:cNvSpPr txBox="1"/>
          <p:nvPr/>
        </p:nvSpPr>
        <p:spPr>
          <a:xfrm>
            <a:off x="883739" y="1924202"/>
            <a:ext cx="504977" cy="391716"/>
          </a:xfrm>
          <a:prstGeom prst="rect">
            <a:avLst/>
          </a:prstGeom>
        </p:spPr>
        <p:txBody>
          <a:bodyPr lIns="0" tIns="0" rIns="0" bIns="0" rtlCol="0" anchor="t">
            <a:spAutoFit/>
          </a:bodyPr>
          <a:lstStyle/>
          <a:p>
            <a:pPr algn="l">
              <a:lnSpc>
                <a:spcPts val="3000"/>
              </a:lnSpc>
            </a:pPr>
            <a:r>
              <a:rPr lang="en-US" sz="1937">
                <a:solidFill>
                  <a:srgbClr val="3C3939"/>
                </a:solidFill>
                <a:latin typeface="Raleway Light"/>
                <a:ea typeface="Raleway Light"/>
                <a:cs typeface="Raleway Light"/>
                <a:sym typeface="Raleway Light"/>
              </a:rPr>
              <a:t>01</a:t>
            </a:r>
          </a:p>
        </p:txBody>
      </p:sp>
      <p:grpSp>
        <p:nvGrpSpPr>
          <p:cNvPr id="10" name="Group 10"/>
          <p:cNvGrpSpPr/>
          <p:nvPr/>
        </p:nvGrpSpPr>
        <p:grpSpPr>
          <a:xfrm>
            <a:off x="883739" y="2400891"/>
            <a:ext cx="9662522" cy="28575"/>
            <a:chOff x="0" y="0"/>
            <a:chExt cx="12883363" cy="38100"/>
          </a:xfrm>
        </p:grpSpPr>
        <p:sp>
          <p:nvSpPr>
            <p:cNvPr id="11" name="Freeform 11"/>
            <p:cNvSpPr/>
            <p:nvPr/>
          </p:nvSpPr>
          <p:spPr>
            <a:xfrm>
              <a:off x="0" y="0"/>
              <a:ext cx="12883388" cy="38100"/>
            </a:xfrm>
            <a:custGeom>
              <a:avLst/>
              <a:gdLst/>
              <a:ahLst/>
              <a:cxnLst/>
              <a:rect l="l" t="t" r="r" b="b"/>
              <a:pathLst>
                <a:path w="12883388" h="38100">
                  <a:moveTo>
                    <a:pt x="0" y="0"/>
                  </a:moveTo>
                  <a:lnTo>
                    <a:pt x="12883388" y="0"/>
                  </a:lnTo>
                  <a:lnTo>
                    <a:pt x="12883388" y="38100"/>
                  </a:lnTo>
                  <a:lnTo>
                    <a:pt x="0" y="38100"/>
                  </a:lnTo>
                  <a:close/>
                </a:path>
              </a:pathLst>
            </a:custGeom>
            <a:solidFill>
              <a:srgbClr val="1B1B27"/>
            </a:solidFill>
          </p:spPr>
        </p:sp>
      </p:grpSp>
      <p:sp>
        <p:nvSpPr>
          <p:cNvPr id="12" name="TextBox 12"/>
          <p:cNvSpPr txBox="1"/>
          <p:nvPr/>
        </p:nvSpPr>
        <p:spPr>
          <a:xfrm>
            <a:off x="883739" y="2555672"/>
            <a:ext cx="3156499" cy="423120"/>
          </a:xfrm>
          <a:prstGeom prst="rect">
            <a:avLst/>
          </a:prstGeom>
        </p:spPr>
        <p:txBody>
          <a:bodyPr lIns="0" tIns="0" rIns="0" bIns="0" rtlCol="0" anchor="t">
            <a:spAutoFit/>
          </a:bodyPr>
          <a:lstStyle/>
          <a:p>
            <a:pPr algn="l">
              <a:lnSpc>
                <a:spcPts val="3062"/>
              </a:lnSpc>
            </a:pPr>
            <a:r>
              <a:rPr lang="en-US" sz="2437">
                <a:solidFill>
                  <a:srgbClr val="3C3939"/>
                </a:solidFill>
                <a:latin typeface="Raleway"/>
                <a:ea typeface="Raleway"/>
                <a:cs typeface="Raleway"/>
                <a:sym typeface="Raleway"/>
              </a:rPr>
              <a:t>Centralized Platform</a:t>
            </a:r>
          </a:p>
        </p:txBody>
      </p:sp>
      <p:sp>
        <p:nvSpPr>
          <p:cNvPr id="13" name="TextBox 13"/>
          <p:cNvSpPr txBox="1"/>
          <p:nvPr/>
        </p:nvSpPr>
        <p:spPr>
          <a:xfrm>
            <a:off x="883739" y="3027912"/>
            <a:ext cx="9662522" cy="467620"/>
          </a:xfrm>
          <a:prstGeom prst="rect">
            <a:avLst/>
          </a:prstGeom>
        </p:spPr>
        <p:txBody>
          <a:bodyPr lIns="0" tIns="0" rIns="0" bIns="0" rtlCol="0" anchor="t">
            <a:spAutoFit/>
          </a:bodyPr>
          <a:lstStyle/>
          <a:p>
            <a:pPr algn="l">
              <a:lnSpc>
                <a:spcPts val="3000"/>
              </a:lnSpc>
            </a:pPr>
            <a:r>
              <a:rPr lang="en-US" sz="1937">
                <a:solidFill>
                  <a:srgbClr val="3C3939"/>
                </a:solidFill>
                <a:latin typeface="Roboto"/>
                <a:ea typeface="Roboto"/>
                <a:cs typeface="Roboto"/>
                <a:sym typeface="Roboto"/>
              </a:rPr>
              <a:t>Single, secure location for all financial transactions with cloud-based data persistence</a:t>
            </a:r>
          </a:p>
        </p:txBody>
      </p:sp>
      <p:sp>
        <p:nvSpPr>
          <p:cNvPr id="14" name="TextBox 14"/>
          <p:cNvSpPr txBox="1"/>
          <p:nvPr/>
        </p:nvSpPr>
        <p:spPr>
          <a:xfrm>
            <a:off x="883739" y="3833517"/>
            <a:ext cx="504977" cy="391716"/>
          </a:xfrm>
          <a:prstGeom prst="rect">
            <a:avLst/>
          </a:prstGeom>
        </p:spPr>
        <p:txBody>
          <a:bodyPr lIns="0" tIns="0" rIns="0" bIns="0" rtlCol="0" anchor="t">
            <a:spAutoFit/>
          </a:bodyPr>
          <a:lstStyle/>
          <a:p>
            <a:pPr algn="l">
              <a:lnSpc>
                <a:spcPts val="3000"/>
              </a:lnSpc>
            </a:pPr>
            <a:r>
              <a:rPr lang="en-US" sz="1937">
                <a:solidFill>
                  <a:srgbClr val="3C3939"/>
                </a:solidFill>
                <a:latin typeface="Raleway Light"/>
                <a:ea typeface="Raleway Light"/>
                <a:cs typeface="Raleway Light"/>
                <a:sym typeface="Raleway Light"/>
              </a:rPr>
              <a:t>02</a:t>
            </a:r>
          </a:p>
        </p:txBody>
      </p:sp>
      <p:grpSp>
        <p:nvGrpSpPr>
          <p:cNvPr id="15" name="Group 15"/>
          <p:cNvGrpSpPr/>
          <p:nvPr/>
        </p:nvGrpSpPr>
        <p:grpSpPr>
          <a:xfrm>
            <a:off x="883739" y="4310215"/>
            <a:ext cx="9662522" cy="28575"/>
            <a:chOff x="0" y="0"/>
            <a:chExt cx="12883363" cy="38100"/>
          </a:xfrm>
        </p:grpSpPr>
        <p:sp>
          <p:nvSpPr>
            <p:cNvPr id="16" name="Freeform 16"/>
            <p:cNvSpPr/>
            <p:nvPr/>
          </p:nvSpPr>
          <p:spPr>
            <a:xfrm>
              <a:off x="0" y="0"/>
              <a:ext cx="12883388" cy="38100"/>
            </a:xfrm>
            <a:custGeom>
              <a:avLst/>
              <a:gdLst/>
              <a:ahLst/>
              <a:cxnLst/>
              <a:rect l="l" t="t" r="r" b="b"/>
              <a:pathLst>
                <a:path w="12883388" h="38100">
                  <a:moveTo>
                    <a:pt x="0" y="0"/>
                  </a:moveTo>
                  <a:lnTo>
                    <a:pt x="12883388" y="0"/>
                  </a:lnTo>
                  <a:lnTo>
                    <a:pt x="12883388" y="38100"/>
                  </a:lnTo>
                  <a:lnTo>
                    <a:pt x="0" y="38100"/>
                  </a:lnTo>
                  <a:close/>
                </a:path>
              </a:pathLst>
            </a:custGeom>
            <a:solidFill>
              <a:srgbClr val="1B1B27"/>
            </a:solidFill>
          </p:spPr>
        </p:sp>
      </p:grpSp>
      <p:sp>
        <p:nvSpPr>
          <p:cNvPr id="17" name="TextBox 17"/>
          <p:cNvSpPr txBox="1"/>
          <p:nvPr/>
        </p:nvSpPr>
        <p:spPr>
          <a:xfrm>
            <a:off x="883739" y="4464996"/>
            <a:ext cx="3156499" cy="423120"/>
          </a:xfrm>
          <a:prstGeom prst="rect">
            <a:avLst/>
          </a:prstGeom>
        </p:spPr>
        <p:txBody>
          <a:bodyPr lIns="0" tIns="0" rIns="0" bIns="0" rtlCol="0" anchor="t">
            <a:spAutoFit/>
          </a:bodyPr>
          <a:lstStyle/>
          <a:p>
            <a:pPr algn="l">
              <a:lnSpc>
                <a:spcPts val="3062"/>
              </a:lnSpc>
            </a:pPr>
            <a:r>
              <a:rPr lang="en-US" sz="2437">
                <a:solidFill>
                  <a:srgbClr val="3C3939"/>
                </a:solidFill>
                <a:latin typeface="Raleway"/>
                <a:ea typeface="Raleway"/>
                <a:cs typeface="Raleway"/>
                <a:sym typeface="Raleway"/>
              </a:rPr>
              <a:t>Smart Categorization</a:t>
            </a:r>
          </a:p>
        </p:txBody>
      </p:sp>
      <p:sp>
        <p:nvSpPr>
          <p:cNvPr id="18" name="TextBox 18"/>
          <p:cNvSpPr txBox="1"/>
          <p:nvPr/>
        </p:nvSpPr>
        <p:spPr>
          <a:xfrm>
            <a:off x="883739" y="4937227"/>
            <a:ext cx="9662522" cy="467620"/>
          </a:xfrm>
          <a:prstGeom prst="rect">
            <a:avLst/>
          </a:prstGeom>
        </p:spPr>
        <p:txBody>
          <a:bodyPr lIns="0" tIns="0" rIns="0" bIns="0" rtlCol="0" anchor="t">
            <a:spAutoFit/>
          </a:bodyPr>
          <a:lstStyle/>
          <a:p>
            <a:pPr algn="l">
              <a:lnSpc>
                <a:spcPts val="3000"/>
              </a:lnSpc>
            </a:pPr>
            <a:r>
              <a:rPr lang="en-US" sz="1937">
                <a:solidFill>
                  <a:srgbClr val="3C3939"/>
                </a:solidFill>
                <a:latin typeface="Roboto"/>
                <a:ea typeface="Roboto"/>
                <a:cs typeface="Roboto"/>
                <a:sym typeface="Roboto"/>
              </a:rPr>
              <a:t>Intuitive classification of income and expenses with customizable categories</a:t>
            </a:r>
          </a:p>
        </p:txBody>
      </p:sp>
      <p:sp>
        <p:nvSpPr>
          <p:cNvPr id="19" name="TextBox 19"/>
          <p:cNvSpPr txBox="1"/>
          <p:nvPr/>
        </p:nvSpPr>
        <p:spPr>
          <a:xfrm>
            <a:off x="883739" y="5742832"/>
            <a:ext cx="504977" cy="391716"/>
          </a:xfrm>
          <a:prstGeom prst="rect">
            <a:avLst/>
          </a:prstGeom>
        </p:spPr>
        <p:txBody>
          <a:bodyPr lIns="0" tIns="0" rIns="0" bIns="0" rtlCol="0" anchor="t">
            <a:spAutoFit/>
          </a:bodyPr>
          <a:lstStyle/>
          <a:p>
            <a:pPr algn="l">
              <a:lnSpc>
                <a:spcPts val="3000"/>
              </a:lnSpc>
            </a:pPr>
            <a:r>
              <a:rPr lang="en-US" sz="1937">
                <a:solidFill>
                  <a:srgbClr val="3C3939"/>
                </a:solidFill>
                <a:latin typeface="Raleway Light"/>
                <a:ea typeface="Raleway Light"/>
                <a:cs typeface="Raleway Light"/>
                <a:sym typeface="Raleway Light"/>
              </a:rPr>
              <a:t>03</a:t>
            </a:r>
          </a:p>
        </p:txBody>
      </p:sp>
      <p:grpSp>
        <p:nvGrpSpPr>
          <p:cNvPr id="20" name="Group 20"/>
          <p:cNvGrpSpPr/>
          <p:nvPr/>
        </p:nvGrpSpPr>
        <p:grpSpPr>
          <a:xfrm>
            <a:off x="883739" y="6219530"/>
            <a:ext cx="9662522" cy="28575"/>
            <a:chOff x="0" y="0"/>
            <a:chExt cx="12883363" cy="38100"/>
          </a:xfrm>
        </p:grpSpPr>
        <p:sp>
          <p:nvSpPr>
            <p:cNvPr id="21" name="Freeform 21"/>
            <p:cNvSpPr/>
            <p:nvPr/>
          </p:nvSpPr>
          <p:spPr>
            <a:xfrm>
              <a:off x="0" y="0"/>
              <a:ext cx="12883388" cy="38100"/>
            </a:xfrm>
            <a:custGeom>
              <a:avLst/>
              <a:gdLst/>
              <a:ahLst/>
              <a:cxnLst/>
              <a:rect l="l" t="t" r="r" b="b"/>
              <a:pathLst>
                <a:path w="12883388" h="38100">
                  <a:moveTo>
                    <a:pt x="0" y="0"/>
                  </a:moveTo>
                  <a:lnTo>
                    <a:pt x="12883388" y="0"/>
                  </a:lnTo>
                  <a:lnTo>
                    <a:pt x="12883388" y="38100"/>
                  </a:lnTo>
                  <a:lnTo>
                    <a:pt x="0" y="38100"/>
                  </a:lnTo>
                  <a:close/>
                </a:path>
              </a:pathLst>
            </a:custGeom>
            <a:solidFill>
              <a:srgbClr val="1B1B27"/>
            </a:solidFill>
          </p:spPr>
        </p:sp>
      </p:grpSp>
      <p:sp>
        <p:nvSpPr>
          <p:cNvPr id="22" name="TextBox 22"/>
          <p:cNvSpPr txBox="1"/>
          <p:nvPr/>
        </p:nvSpPr>
        <p:spPr>
          <a:xfrm>
            <a:off x="883739" y="6374311"/>
            <a:ext cx="3156499" cy="423120"/>
          </a:xfrm>
          <a:prstGeom prst="rect">
            <a:avLst/>
          </a:prstGeom>
        </p:spPr>
        <p:txBody>
          <a:bodyPr lIns="0" tIns="0" rIns="0" bIns="0" rtlCol="0" anchor="t">
            <a:spAutoFit/>
          </a:bodyPr>
          <a:lstStyle/>
          <a:p>
            <a:pPr algn="l">
              <a:lnSpc>
                <a:spcPts val="3062"/>
              </a:lnSpc>
            </a:pPr>
            <a:r>
              <a:rPr lang="en-US" sz="2437">
                <a:solidFill>
                  <a:srgbClr val="3C3939"/>
                </a:solidFill>
                <a:latin typeface="Raleway"/>
                <a:ea typeface="Raleway"/>
                <a:cs typeface="Raleway"/>
                <a:sym typeface="Raleway"/>
              </a:rPr>
              <a:t>Visual Analytics</a:t>
            </a:r>
          </a:p>
        </p:txBody>
      </p:sp>
      <p:sp>
        <p:nvSpPr>
          <p:cNvPr id="23" name="TextBox 23"/>
          <p:cNvSpPr txBox="1"/>
          <p:nvPr/>
        </p:nvSpPr>
        <p:spPr>
          <a:xfrm>
            <a:off x="883739" y="6846541"/>
            <a:ext cx="9662522" cy="467620"/>
          </a:xfrm>
          <a:prstGeom prst="rect">
            <a:avLst/>
          </a:prstGeom>
        </p:spPr>
        <p:txBody>
          <a:bodyPr lIns="0" tIns="0" rIns="0" bIns="0" rtlCol="0" anchor="t">
            <a:spAutoFit/>
          </a:bodyPr>
          <a:lstStyle/>
          <a:p>
            <a:pPr algn="l">
              <a:lnSpc>
                <a:spcPts val="3000"/>
              </a:lnSpc>
            </a:pPr>
            <a:r>
              <a:rPr lang="en-US" sz="1937">
                <a:solidFill>
                  <a:srgbClr val="3C3939"/>
                </a:solidFill>
                <a:latin typeface="Roboto"/>
                <a:ea typeface="Roboto"/>
                <a:cs typeface="Roboto"/>
                <a:sym typeface="Roboto"/>
              </a:rPr>
              <a:t>Interactive charts and graphs that transform numbers into meaningful financial stories</a:t>
            </a:r>
          </a:p>
        </p:txBody>
      </p:sp>
      <p:sp>
        <p:nvSpPr>
          <p:cNvPr id="24" name="TextBox 24"/>
          <p:cNvSpPr txBox="1"/>
          <p:nvPr/>
        </p:nvSpPr>
        <p:spPr>
          <a:xfrm>
            <a:off x="883739" y="7652147"/>
            <a:ext cx="504977" cy="391716"/>
          </a:xfrm>
          <a:prstGeom prst="rect">
            <a:avLst/>
          </a:prstGeom>
        </p:spPr>
        <p:txBody>
          <a:bodyPr lIns="0" tIns="0" rIns="0" bIns="0" rtlCol="0" anchor="t">
            <a:spAutoFit/>
          </a:bodyPr>
          <a:lstStyle/>
          <a:p>
            <a:pPr algn="l">
              <a:lnSpc>
                <a:spcPts val="3000"/>
              </a:lnSpc>
            </a:pPr>
            <a:r>
              <a:rPr lang="en-US" sz="1937">
                <a:solidFill>
                  <a:srgbClr val="3C3939"/>
                </a:solidFill>
                <a:latin typeface="Raleway Light"/>
                <a:ea typeface="Raleway Light"/>
                <a:cs typeface="Raleway Light"/>
                <a:sym typeface="Raleway Light"/>
              </a:rPr>
              <a:t>04</a:t>
            </a:r>
          </a:p>
        </p:txBody>
      </p:sp>
      <p:grpSp>
        <p:nvGrpSpPr>
          <p:cNvPr id="25" name="Group 25"/>
          <p:cNvGrpSpPr/>
          <p:nvPr/>
        </p:nvGrpSpPr>
        <p:grpSpPr>
          <a:xfrm>
            <a:off x="883739" y="8128845"/>
            <a:ext cx="9662522" cy="28575"/>
            <a:chOff x="0" y="0"/>
            <a:chExt cx="12883363" cy="38100"/>
          </a:xfrm>
        </p:grpSpPr>
        <p:sp>
          <p:nvSpPr>
            <p:cNvPr id="26" name="Freeform 26"/>
            <p:cNvSpPr/>
            <p:nvPr/>
          </p:nvSpPr>
          <p:spPr>
            <a:xfrm>
              <a:off x="0" y="0"/>
              <a:ext cx="12883388" cy="38100"/>
            </a:xfrm>
            <a:custGeom>
              <a:avLst/>
              <a:gdLst/>
              <a:ahLst/>
              <a:cxnLst/>
              <a:rect l="l" t="t" r="r" b="b"/>
              <a:pathLst>
                <a:path w="12883388" h="38100">
                  <a:moveTo>
                    <a:pt x="0" y="0"/>
                  </a:moveTo>
                  <a:lnTo>
                    <a:pt x="12883388" y="0"/>
                  </a:lnTo>
                  <a:lnTo>
                    <a:pt x="12883388" y="38100"/>
                  </a:lnTo>
                  <a:lnTo>
                    <a:pt x="0" y="38100"/>
                  </a:lnTo>
                  <a:close/>
                </a:path>
              </a:pathLst>
            </a:custGeom>
            <a:solidFill>
              <a:srgbClr val="1B1B27"/>
            </a:solidFill>
          </p:spPr>
        </p:sp>
      </p:grpSp>
      <p:sp>
        <p:nvSpPr>
          <p:cNvPr id="27" name="TextBox 27"/>
          <p:cNvSpPr txBox="1"/>
          <p:nvPr/>
        </p:nvSpPr>
        <p:spPr>
          <a:xfrm>
            <a:off x="883739" y="8283626"/>
            <a:ext cx="3157690" cy="423120"/>
          </a:xfrm>
          <a:prstGeom prst="rect">
            <a:avLst/>
          </a:prstGeom>
        </p:spPr>
        <p:txBody>
          <a:bodyPr lIns="0" tIns="0" rIns="0" bIns="0" rtlCol="0" anchor="t">
            <a:spAutoFit/>
          </a:bodyPr>
          <a:lstStyle/>
          <a:p>
            <a:pPr algn="l">
              <a:lnSpc>
                <a:spcPts val="3062"/>
              </a:lnSpc>
            </a:pPr>
            <a:r>
              <a:rPr lang="en-US" sz="2437">
                <a:solidFill>
                  <a:srgbClr val="3C3939"/>
                </a:solidFill>
                <a:latin typeface="Raleway"/>
                <a:ea typeface="Raleway"/>
                <a:cs typeface="Raleway"/>
                <a:sym typeface="Raleway"/>
              </a:rPr>
              <a:t>Real-Time Dashboard</a:t>
            </a:r>
          </a:p>
        </p:txBody>
      </p:sp>
      <p:sp>
        <p:nvSpPr>
          <p:cNvPr id="28" name="TextBox 28"/>
          <p:cNvSpPr txBox="1"/>
          <p:nvPr/>
        </p:nvSpPr>
        <p:spPr>
          <a:xfrm>
            <a:off x="883739" y="8755856"/>
            <a:ext cx="9662522" cy="467620"/>
          </a:xfrm>
          <a:prstGeom prst="rect">
            <a:avLst/>
          </a:prstGeom>
        </p:spPr>
        <p:txBody>
          <a:bodyPr lIns="0" tIns="0" rIns="0" bIns="0" rtlCol="0" anchor="t">
            <a:spAutoFit/>
          </a:bodyPr>
          <a:lstStyle/>
          <a:p>
            <a:pPr algn="l">
              <a:lnSpc>
                <a:spcPts val="3000"/>
              </a:lnSpc>
            </a:pPr>
            <a:r>
              <a:rPr lang="en-US" sz="1937">
                <a:solidFill>
                  <a:srgbClr val="3C3939"/>
                </a:solidFill>
                <a:latin typeface="Roboto"/>
                <a:ea typeface="Roboto"/>
                <a:cs typeface="Roboto"/>
                <a:sym typeface="Roboto"/>
              </a:rPr>
              <a:t>Instant overview of financial health with dynamic balance calculations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CECF3"/>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sp>
        <p:nvSpPr>
          <p:cNvPr id="6" name="TextBox 6"/>
          <p:cNvSpPr txBox="1"/>
          <p:nvPr/>
        </p:nvSpPr>
        <p:spPr>
          <a:xfrm>
            <a:off x="992238" y="1379639"/>
            <a:ext cx="7088238" cy="914552"/>
          </a:xfrm>
          <a:prstGeom prst="rect">
            <a:avLst/>
          </a:prstGeom>
        </p:spPr>
        <p:txBody>
          <a:bodyPr lIns="0" tIns="0" rIns="0" bIns="0" rtlCol="0" anchor="t">
            <a:spAutoFit/>
          </a:bodyPr>
          <a:lstStyle/>
          <a:p>
            <a:pPr algn="l">
              <a:lnSpc>
                <a:spcPts val="6937"/>
              </a:lnSpc>
            </a:pPr>
            <a:r>
              <a:rPr lang="en-US" sz="5562">
                <a:solidFill>
                  <a:srgbClr val="1B1B27"/>
                </a:solidFill>
                <a:latin typeface="Raleway"/>
                <a:ea typeface="Raleway"/>
                <a:cs typeface="Raleway"/>
                <a:sym typeface="Raleway"/>
              </a:rPr>
              <a:t>Core Features</a:t>
            </a:r>
          </a:p>
        </p:txBody>
      </p:sp>
      <p:sp>
        <p:nvSpPr>
          <p:cNvPr id="7" name="TextBox 7"/>
          <p:cNvSpPr txBox="1"/>
          <p:nvPr/>
        </p:nvSpPr>
        <p:spPr>
          <a:xfrm>
            <a:off x="992238" y="4037562"/>
            <a:ext cx="3612652" cy="471487"/>
          </a:xfrm>
          <a:prstGeom prst="rect">
            <a:avLst/>
          </a:prstGeom>
        </p:spPr>
        <p:txBody>
          <a:bodyPr lIns="0" tIns="0" rIns="0" bIns="0" rtlCol="0" anchor="t">
            <a:spAutoFit/>
          </a:bodyPr>
          <a:lstStyle/>
          <a:p>
            <a:pPr algn="l">
              <a:lnSpc>
                <a:spcPts val="3437"/>
              </a:lnSpc>
            </a:pPr>
            <a:r>
              <a:rPr lang="en-US" sz="2750">
                <a:solidFill>
                  <a:srgbClr val="3C3939"/>
                </a:solidFill>
                <a:latin typeface="Raleway"/>
                <a:ea typeface="Raleway"/>
                <a:cs typeface="Raleway"/>
                <a:sym typeface="Raleway"/>
              </a:rPr>
              <a:t>Secure Authentication</a:t>
            </a:r>
          </a:p>
        </p:txBody>
      </p:sp>
      <p:sp>
        <p:nvSpPr>
          <p:cNvPr id="8" name="TextBox 8"/>
          <p:cNvSpPr txBox="1"/>
          <p:nvPr/>
        </p:nvSpPr>
        <p:spPr>
          <a:xfrm>
            <a:off x="992238" y="4583906"/>
            <a:ext cx="7974511" cy="1002506"/>
          </a:xfrm>
          <a:prstGeom prst="rect">
            <a:avLst/>
          </a:prstGeom>
        </p:spPr>
        <p:txBody>
          <a:bodyPr lIns="0" tIns="0" rIns="0" bIns="0" rtlCol="0" anchor="t">
            <a:spAutoFit/>
          </a:bodyPr>
          <a:lstStyle/>
          <a:p>
            <a:pPr algn="l">
              <a:lnSpc>
                <a:spcPts val="3562"/>
              </a:lnSpc>
            </a:pPr>
            <a:r>
              <a:rPr lang="en-US" sz="2187">
                <a:solidFill>
                  <a:srgbClr val="3C3939"/>
                </a:solidFill>
                <a:latin typeface="Roboto"/>
                <a:ea typeface="Roboto"/>
                <a:cs typeface="Roboto"/>
                <a:sym typeface="Roboto"/>
              </a:rPr>
              <a:t>JWT-based login system with encrypted password storage ensures only authorized users access sensitive financial data</a:t>
            </a:r>
          </a:p>
        </p:txBody>
      </p:sp>
      <p:sp>
        <p:nvSpPr>
          <p:cNvPr id="9" name="TextBox 9"/>
          <p:cNvSpPr txBox="1"/>
          <p:nvPr/>
        </p:nvSpPr>
        <p:spPr>
          <a:xfrm>
            <a:off x="9321108" y="4037562"/>
            <a:ext cx="4154538" cy="471487"/>
          </a:xfrm>
          <a:prstGeom prst="rect">
            <a:avLst/>
          </a:prstGeom>
        </p:spPr>
        <p:txBody>
          <a:bodyPr lIns="0" tIns="0" rIns="0" bIns="0" rtlCol="0" anchor="t">
            <a:spAutoFit/>
          </a:bodyPr>
          <a:lstStyle/>
          <a:p>
            <a:pPr algn="l">
              <a:lnSpc>
                <a:spcPts val="3437"/>
              </a:lnSpc>
            </a:pPr>
            <a:r>
              <a:rPr lang="en-US" sz="2750">
                <a:solidFill>
                  <a:srgbClr val="3C3939"/>
                </a:solidFill>
                <a:latin typeface="Raleway"/>
                <a:ea typeface="Raleway"/>
                <a:cs typeface="Raleway"/>
                <a:sym typeface="Raleway"/>
              </a:rPr>
              <a:t>Transaction Management</a:t>
            </a:r>
          </a:p>
        </p:txBody>
      </p:sp>
      <p:sp>
        <p:nvSpPr>
          <p:cNvPr id="10" name="TextBox 10"/>
          <p:cNvSpPr txBox="1"/>
          <p:nvPr/>
        </p:nvSpPr>
        <p:spPr>
          <a:xfrm>
            <a:off x="9321108" y="4583906"/>
            <a:ext cx="7974654" cy="1002506"/>
          </a:xfrm>
          <a:prstGeom prst="rect">
            <a:avLst/>
          </a:prstGeom>
        </p:spPr>
        <p:txBody>
          <a:bodyPr lIns="0" tIns="0" rIns="0" bIns="0" rtlCol="0" anchor="t">
            <a:spAutoFit/>
          </a:bodyPr>
          <a:lstStyle/>
          <a:p>
            <a:pPr algn="l">
              <a:lnSpc>
                <a:spcPts val="3562"/>
              </a:lnSpc>
            </a:pPr>
            <a:r>
              <a:rPr lang="en-US" sz="2187">
                <a:solidFill>
                  <a:srgbClr val="3C3939"/>
                </a:solidFill>
                <a:latin typeface="Roboto"/>
                <a:ea typeface="Roboto"/>
                <a:cs typeface="Roboto"/>
                <a:sym typeface="Roboto"/>
              </a:rPr>
              <a:t>Add, edit, and categorize income and expenses with ease using an intuitive, responsive form interface</a:t>
            </a:r>
          </a:p>
        </p:txBody>
      </p:sp>
      <p:sp>
        <p:nvSpPr>
          <p:cNvPr id="11" name="TextBox 11"/>
          <p:cNvSpPr txBox="1"/>
          <p:nvPr/>
        </p:nvSpPr>
        <p:spPr>
          <a:xfrm>
            <a:off x="992238" y="7329783"/>
            <a:ext cx="3544043" cy="471487"/>
          </a:xfrm>
          <a:prstGeom prst="rect">
            <a:avLst/>
          </a:prstGeom>
        </p:spPr>
        <p:txBody>
          <a:bodyPr lIns="0" tIns="0" rIns="0" bIns="0" rtlCol="0" anchor="t">
            <a:spAutoFit/>
          </a:bodyPr>
          <a:lstStyle/>
          <a:p>
            <a:pPr algn="l">
              <a:lnSpc>
                <a:spcPts val="3437"/>
              </a:lnSpc>
            </a:pPr>
            <a:r>
              <a:rPr lang="en-US" sz="2750">
                <a:solidFill>
                  <a:srgbClr val="3C3939"/>
                </a:solidFill>
                <a:latin typeface="Raleway"/>
                <a:ea typeface="Raleway"/>
                <a:cs typeface="Raleway"/>
                <a:sym typeface="Raleway"/>
              </a:rPr>
              <a:t>Dynamic Balance</a:t>
            </a:r>
          </a:p>
        </p:txBody>
      </p:sp>
      <p:sp>
        <p:nvSpPr>
          <p:cNvPr id="12" name="TextBox 12"/>
          <p:cNvSpPr txBox="1"/>
          <p:nvPr/>
        </p:nvSpPr>
        <p:spPr>
          <a:xfrm>
            <a:off x="992238" y="7876137"/>
            <a:ext cx="7974511" cy="1002506"/>
          </a:xfrm>
          <a:prstGeom prst="rect">
            <a:avLst/>
          </a:prstGeom>
        </p:spPr>
        <p:txBody>
          <a:bodyPr lIns="0" tIns="0" rIns="0" bIns="0" rtlCol="0" anchor="t">
            <a:spAutoFit/>
          </a:bodyPr>
          <a:lstStyle/>
          <a:p>
            <a:pPr algn="l">
              <a:lnSpc>
                <a:spcPts val="3562"/>
              </a:lnSpc>
            </a:pPr>
            <a:r>
              <a:rPr lang="en-US" sz="2187">
                <a:solidFill>
                  <a:srgbClr val="3C3939"/>
                </a:solidFill>
                <a:latin typeface="Roboto"/>
                <a:ea typeface="Roboto"/>
                <a:cs typeface="Roboto"/>
                <a:sym typeface="Roboto"/>
              </a:rPr>
              <a:t>Automatic calculation of running balance as transactions are added, providing instant financial status updates</a:t>
            </a:r>
          </a:p>
        </p:txBody>
      </p:sp>
      <p:sp>
        <p:nvSpPr>
          <p:cNvPr id="13" name="TextBox 13"/>
          <p:cNvSpPr txBox="1"/>
          <p:nvPr/>
        </p:nvSpPr>
        <p:spPr>
          <a:xfrm>
            <a:off x="9321108" y="7329783"/>
            <a:ext cx="3544043" cy="471487"/>
          </a:xfrm>
          <a:prstGeom prst="rect">
            <a:avLst/>
          </a:prstGeom>
        </p:spPr>
        <p:txBody>
          <a:bodyPr lIns="0" tIns="0" rIns="0" bIns="0" rtlCol="0" anchor="t">
            <a:spAutoFit/>
          </a:bodyPr>
          <a:lstStyle/>
          <a:p>
            <a:pPr algn="l">
              <a:lnSpc>
                <a:spcPts val="3437"/>
              </a:lnSpc>
            </a:pPr>
            <a:r>
              <a:rPr lang="en-US" sz="2750">
                <a:solidFill>
                  <a:srgbClr val="3C3939"/>
                </a:solidFill>
                <a:latin typeface="Raleway"/>
                <a:ea typeface="Raleway"/>
                <a:cs typeface="Raleway"/>
                <a:sym typeface="Raleway"/>
              </a:rPr>
              <a:t>Interactive Charts</a:t>
            </a:r>
          </a:p>
        </p:txBody>
      </p:sp>
      <p:sp>
        <p:nvSpPr>
          <p:cNvPr id="14" name="TextBox 14"/>
          <p:cNvSpPr txBox="1"/>
          <p:nvPr/>
        </p:nvSpPr>
        <p:spPr>
          <a:xfrm>
            <a:off x="9321108" y="7876137"/>
            <a:ext cx="7974654" cy="1002506"/>
          </a:xfrm>
          <a:prstGeom prst="rect">
            <a:avLst/>
          </a:prstGeom>
        </p:spPr>
        <p:txBody>
          <a:bodyPr lIns="0" tIns="0" rIns="0" bIns="0" rtlCol="0" anchor="t">
            <a:spAutoFit/>
          </a:bodyPr>
          <a:lstStyle/>
          <a:p>
            <a:pPr algn="l">
              <a:lnSpc>
                <a:spcPts val="3562"/>
              </a:lnSpc>
            </a:pPr>
            <a:r>
              <a:rPr lang="en-US" sz="2187">
                <a:solidFill>
                  <a:srgbClr val="3C3939"/>
                </a:solidFill>
                <a:latin typeface="Roboto"/>
                <a:ea typeface="Roboto"/>
                <a:cs typeface="Roboto"/>
                <a:sym typeface="Roboto"/>
              </a:rPr>
              <a:t>Visualize spending patterns with Recharts-powered graphs that update in real-time with new transaction data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CECF3"/>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sp>
        <p:nvSpPr>
          <p:cNvPr id="6" name="TextBox 6"/>
          <p:cNvSpPr txBox="1"/>
          <p:nvPr/>
        </p:nvSpPr>
        <p:spPr>
          <a:xfrm>
            <a:off x="992238" y="1497654"/>
            <a:ext cx="7088238" cy="914552"/>
          </a:xfrm>
          <a:prstGeom prst="rect">
            <a:avLst/>
          </a:prstGeom>
        </p:spPr>
        <p:txBody>
          <a:bodyPr lIns="0" tIns="0" rIns="0" bIns="0" rtlCol="0" anchor="t">
            <a:spAutoFit/>
          </a:bodyPr>
          <a:lstStyle/>
          <a:p>
            <a:pPr algn="l">
              <a:lnSpc>
                <a:spcPts val="6937"/>
              </a:lnSpc>
            </a:pPr>
            <a:r>
              <a:rPr lang="en-US" sz="5562">
                <a:solidFill>
                  <a:srgbClr val="1B1B27"/>
                </a:solidFill>
                <a:latin typeface="Raleway"/>
                <a:ea typeface="Raleway"/>
                <a:cs typeface="Raleway"/>
                <a:sym typeface="Raleway"/>
              </a:rPr>
              <a:t>Technology Stack</a:t>
            </a:r>
          </a:p>
        </p:txBody>
      </p:sp>
      <p:grpSp>
        <p:nvGrpSpPr>
          <p:cNvPr id="7" name="Group 7"/>
          <p:cNvGrpSpPr/>
          <p:nvPr/>
        </p:nvGrpSpPr>
        <p:grpSpPr>
          <a:xfrm>
            <a:off x="987476" y="2974477"/>
            <a:ext cx="16313048" cy="5790905"/>
            <a:chOff x="0" y="0"/>
            <a:chExt cx="21750731" cy="7721206"/>
          </a:xfrm>
        </p:grpSpPr>
        <p:sp>
          <p:nvSpPr>
            <p:cNvPr id="8" name="Freeform 8"/>
            <p:cNvSpPr/>
            <p:nvPr/>
          </p:nvSpPr>
          <p:spPr>
            <a:xfrm>
              <a:off x="6350" y="6350"/>
              <a:ext cx="21738082" cy="7708519"/>
            </a:xfrm>
            <a:custGeom>
              <a:avLst/>
              <a:gdLst/>
              <a:ahLst/>
              <a:cxnLst/>
              <a:rect l="l" t="t" r="r" b="b"/>
              <a:pathLst>
                <a:path w="21738082" h="7708519">
                  <a:moveTo>
                    <a:pt x="0" y="158750"/>
                  </a:moveTo>
                  <a:cubicBezTo>
                    <a:pt x="0" y="71120"/>
                    <a:pt x="71120" y="0"/>
                    <a:pt x="159004" y="0"/>
                  </a:cubicBezTo>
                  <a:lnTo>
                    <a:pt x="21579078" y="0"/>
                  </a:lnTo>
                  <a:cubicBezTo>
                    <a:pt x="21666836" y="0"/>
                    <a:pt x="21738082" y="71120"/>
                    <a:pt x="21738082" y="158750"/>
                  </a:cubicBezTo>
                  <a:lnTo>
                    <a:pt x="21738082" y="7549769"/>
                  </a:lnTo>
                  <a:cubicBezTo>
                    <a:pt x="21738082" y="7637525"/>
                    <a:pt x="21666963" y="7708519"/>
                    <a:pt x="21579078" y="7708519"/>
                  </a:cubicBezTo>
                  <a:lnTo>
                    <a:pt x="159004" y="7708519"/>
                  </a:lnTo>
                  <a:cubicBezTo>
                    <a:pt x="71120" y="7708519"/>
                    <a:pt x="0" y="7637399"/>
                    <a:pt x="0" y="7549769"/>
                  </a:cubicBezTo>
                  <a:close/>
                </a:path>
              </a:pathLst>
            </a:custGeom>
            <a:solidFill>
              <a:srgbClr val="E1E1EA"/>
            </a:solidFill>
          </p:spPr>
        </p:sp>
        <p:sp>
          <p:nvSpPr>
            <p:cNvPr id="9" name="Freeform 9"/>
            <p:cNvSpPr/>
            <p:nvPr/>
          </p:nvSpPr>
          <p:spPr>
            <a:xfrm>
              <a:off x="0" y="0"/>
              <a:ext cx="21750782" cy="7721219"/>
            </a:xfrm>
            <a:custGeom>
              <a:avLst/>
              <a:gdLst/>
              <a:ahLst/>
              <a:cxnLst/>
              <a:rect l="l" t="t" r="r" b="b"/>
              <a:pathLst>
                <a:path w="21750782" h="7721219">
                  <a:moveTo>
                    <a:pt x="0" y="165100"/>
                  </a:moveTo>
                  <a:cubicBezTo>
                    <a:pt x="0" y="73914"/>
                    <a:pt x="74041" y="0"/>
                    <a:pt x="165354" y="0"/>
                  </a:cubicBezTo>
                  <a:lnTo>
                    <a:pt x="21585428" y="0"/>
                  </a:lnTo>
                  <a:lnTo>
                    <a:pt x="21585428" y="6350"/>
                  </a:lnTo>
                  <a:lnTo>
                    <a:pt x="21585428" y="0"/>
                  </a:lnTo>
                  <a:cubicBezTo>
                    <a:pt x="21676742" y="0"/>
                    <a:pt x="21750782" y="73914"/>
                    <a:pt x="21750782" y="165100"/>
                  </a:cubicBezTo>
                  <a:lnTo>
                    <a:pt x="21750782" y="7556119"/>
                  </a:lnTo>
                  <a:lnTo>
                    <a:pt x="21744432" y="7556119"/>
                  </a:lnTo>
                  <a:lnTo>
                    <a:pt x="21750782" y="7556119"/>
                  </a:lnTo>
                  <a:cubicBezTo>
                    <a:pt x="21750782" y="7647305"/>
                    <a:pt x="21676742" y="7721219"/>
                    <a:pt x="21585428" y="7721219"/>
                  </a:cubicBezTo>
                  <a:lnTo>
                    <a:pt x="21585428" y="7714869"/>
                  </a:lnTo>
                  <a:lnTo>
                    <a:pt x="21585428" y="7721219"/>
                  </a:lnTo>
                  <a:lnTo>
                    <a:pt x="165354" y="7721219"/>
                  </a:lnTo>
                  <a:lnTo>
                    <a:pt x="165354" y="7714869"/>
                  </a:lnTo>
                  <a:lnTo>
                    <a:pt x="165354" y="7721219"/>
                  </a:lnTo>
                  <a:cubicBezTo>
                    <a:pt x="74041" y="7721219"/>
                    <a:pt x="0" y="7647305"/>
                    <a:pt x="0" y="7556119"/>
                  </a:cubicBezTo>
                  <a:lnTo>
                    <a:pt x="0" y="165100"/>
                  </a:lnTo>
                  <a:lnTo>
                    <a:pt x="6350" y="165100"/>
                  </a:lnTo>
                  <a:lnTo>
                    <a:pt x="0" y="165100"/>
                  </a:lnTo>
                  <a:moveTo>
                    <a:pt x="12700" y="165100"/>
                  </a:moveTo>
                  <a:lnTo>
                    <a:pt x="12700" y="7556119"/>
                  </a:lnTo>
                  <a:lnTo>
                    <a:pt x="6350" y="7556119"/>
                  </a:lnTo>
                  <a:lnTo>
                    <a:pt x="12700" y="7556119"/>
                  </a:lnTo>
                  <a:cubicBezTo>
                    <a:pt x="12700" y="7640320"/>
                    <a:pt x="81026" y="7708519"/>
                    <a:pt x="165354" y="7708519"/>
                  </a:cubicBezTo>
                  <a:lnTo>
                    <a:pt x="21585428" y="7708519"/>
                  </a:lnTo>
                  <a:cubicBezTo>
                    <a:pt x="21669756" y="7708519"/>
                    <a:pt x="21738082" y="7640320"/>
                    <a:pt x="21738082" y="7556119"/>
                  </a:cubicBezTo>
                  <a:lnTo>
                    <a:pt x="21738082" y="165100"/>
                  </a:lnTo>
                  <a:lnTo>
                    <a:pt x="21744432" y="165100"/>
                  </a:lnTo>
                  <a:lnTo>
                    <a:pt x="21738082" y="165100"/>
                  </a:lnTo>
                  <a:cubicBezTo>
                    <a:pt x="21738082" y="80899"/>
                    <a:pt x="21669756" y="12700"/>
                    <a:pt x="21585428" y="12700"/>
                  </a:cubicBezTo>
                  <a:lnTo>
                    <a:pt x="165354" y="12700"/>
                  </a:lnTo>
                  <a:lnTo>
                    <a:pt x="165354" y="6350"/>
                  </a:lnTo>
                  <a:lnTo>
                    <a:pt x="165354" y="12700"/>
                  </a:lnTo>
                  <a:cubicBezTo>
                    <a:pt x="81026" y="12700"/>
                    <a:pt x="12700" y="80899"/>
                    <a:pt x="12700" y="165100"/>
                  </a:cubicBezTo>
                  <a:close/>
                </a:path>
              </a:pathLst>
            </a:custGeom>
            <a:solidFill>
              <a:srgbClr val="C7C7D0"/>
            </a:solidFill>
          </p:spPr>
        </p:sp>
      </p:grpSp>
      <p:grpSp>
        <p:nvGrpSpPr>
          <p:cNvPr id="10" name="Group 10"/>
          <p:cNvGrpSpPr/>
          <p:nvPr/>
        </p:nvGrpSpPr>
        <p:grpSpPr>
          <a:xfrm>
            <a:off x="1001763" y="2988764"/>
            <a:ext cx="8142237" cy="2881160"/>
            <a:chOff x="0" y="0"/>
            <a:chExt cx="10856316" cy="3841547"/>
          </a:xfrm>
        </p:grpSpPr>
        <p:sp>
          <p:nvSpPr>
            <p:cNvPr id="11" name="Freeform 11"/>
            <p:cNvSpPr/>
            <p:nvPr/>
          </p:nvSpPr>
          <p:spPr>
            <a:xfrm>
              <a:off x="0" y="0"/>
              <a:ext cx="10856341" cy="3841496"/>
            </a:xfrm>
            <a:custGeom>
              <a:avLst/>
              <a:gdLst/>
              <a:ahLst/>
              <a:cxnLst/>
              <a:rect l="l" t="t" r="r" b="b"/>
              <a:pathLst>
                <a:path w="10856341" h="3841496">
                  <a:moveTo>
                    <a:pt x="0" y="158750"/>
                  </a:moveTo>
                  <a:cubicBezTo>
                    <a:pt x="0" y="71120"/>
                    <a:pt x="71120" y="0"/>
                    <a:pt x="158750" y="0"/>
                  </a:cubicBezTo>
                  <a:lnTo>
                    <a:pt x="10697591" y="0"/>
                  </a:lnTo>
                  <a:cubicBezTo>
                    <a:pt x="10785222" y="0"/>
                    <a:pt x="10856341" y="71120"/>
                    <a:pt x="10856341" y="158750"/>
                  </a:cubicBezTo>
                  <a:lnTo>
                    <a:pt x="10856341" y="3682746"/>
                  </a:lnTo>
                  <a:cubicBezTo>
                    <a:pt x="10856341" y="3770376"/>
                    <a:pt x="10785222" y="3841496"/>
                    <a:pt x="10697591" y="3841496"/>
                  </a:cubicBezTo>
                  <a:lnTo>
                    <a:pt x="158750" y="3841496"/>
                  </a:lnTo>
                  <a:cubicBezTo>
                    <a:pt x="71120" y="3841496"/>
                    <a:pt x="0" y="3770376"/>
                    <a:pt x="0" y="3682746"/>
                  </a:cubicBezTo>
                  <a:close/>
                </a:path>
              </a:pathLst>
            </a:custGeom>
            <a:solidFill>
              <a:srgbClr val="E1E1EA"/>
            </a:solidFill>
          </p:spPr>
        </p:sp>
      </p:grpSp>
      <p:sp>
        <p:nvSpPr>
          <p:cNvPr id="12" name="TextBox 12"/>
          <p:cNvSpPr txBox="1"/>
          <p:nvPr/>
        </p:nvSpPr>
        <p:spPr>
          <a:xfrm>
            <a:off x="1285284" y="3243710"/>
            <a:ext cx="3544043" cy="471487"/>
          </a:xfrm>
          <a:prstGeom prst="rect">
            <a:avLst/>
          </a:prstGeom>
        </p:spPr>
        <p:txBody>
          <a:bodyPr lIns="0" tIns="0" rIns="0" bIns="0" rtlCol="0" anchor="t">
            <a:spAutoFit/>
          </a:bodyPr>
          <a:lstStyle/>
          <a:p>
            <a:pPr algn="l">
              <a:lnSpc>
                <a:spcPts val="3437"/>
              </a:lnSpc>
            </a:pPr>
            <a:r>
              <a:rPr lang="en-US" sz="2750">
                <a:solidFill>
                  <a:srgbClr val="3C3939"/>
                </a:solidFill>
                <a:latin typeface="Raleway"/>
                <a:ea typeface="Raleway"/>
                <a:cs typeface="Raleway"/>
                <a:sym typeface="Raleway"/>
              </a:rPr>
              <a:t>Frontend</a:t>
            </a:r>
          </a:p>
        </p:txBody>
      </p:sp>
      <p:sp>
        <p:nvSpPr>
          <p:cNvPr id="13" name="TextBox 13"/>
          <p:cNvSpPr txBox="1"/>
          <p:nvPr/>
        </p:nvSpPr>
        <p:spPr>
          <a:xfrm>
            <a:off x="1285284" y="3790055"/>
            <a:ext cx="7149998" cy="548878"/>
          </a:xfrm>
          <a:prstGeom prst="rect">
            <a:avLst/>
          </a:prstGeom>
        </p:spPr>
        <p:txBody>
          <a:bodyPr lIns="0" tIns="0" rIns="0" bIns="0" rtlCol="0" anchor="t">
            <a:spAutoFit/>
          </a:bodyPr>
          <a:lstStyle/>
          <a:p>
            <a:pPr algn="l">
              <a:lnSpc>
                <a:spcPts val="3562"/>
              </a:lnSpc>
            </a:pPr>
            <a:r>
              <a:rPr lang="en-US" sz="2187">
                <a:solidFill>
                  <a:srgbClr val="3C3939"/>
                </a:solidFill>
                <a:latin typeface="Roboto"/>
                <a:ea typeface="Roboto"/>
                <a:cs typeface="Roboto"/>
                <a:sym typeface="Roboto"/>
              </a:rPr>
              <a:t>React.js</a:t>
            </a:r>
          </a:p>
        </p:txBody>
      </p:sp>
      <p:sp>
        <p:nvSpPr>
          <p:cNvPr id="14" name="TextBox 14"/>
          <p:cNvSpPr txBox="1"/>
          <p:nvPr/>
        </p:nvSpPr>
        <p:spPr>
          <a:xfrm>
            <a:off x="1285284" y="4413799"/>
            <a:ext cx="7149998" cy="548878"/>
          </a:xfrm>
          <a:prstGeom prst="rect">
            <a:avLst/>
          </a:prstGeom>
        </p:spPr>
        <p:txBody>
          <a:bodyPr lIns="0" tIns="0" rIns="0" bIns="0" rtlCol="0" anchor="t">
            <a:spAutoFit/>
          </a:bodyPr>
          <a:lstStyle/>
          <a:p>
            <a:pPr algn="l">
              <a:lnSpc>
                <a:spcPts val="3562"/>
              </a:lnSpc>
            </a:pPr>
            <a:r>
              <a:rPr lang="en-US" sz="2187">
                <a:solidFill>
                  <a:srgbClr val="3C3939"/>
                </a:solidFill>
                <a:latin typeface="Roboto"/>
                <a:ea typeface="Roboto"/>
                <a:cs typeface="Roboto"/>
                <a:sym typeface="Roboto"/>
              </a:rPr>
              <a:t>CSS3</a:t>
            </a:r>
          </a:p>
        </p:txBody>
      </p:sp>
      <p:sp>
        <p:nvSpPr>
          <p:cNvPr id="15" name="TextBox 15"/>
          <p:cNvSpPr txBox="1"/>
          <p:nvPr/>
        </p:nvSpPr>
        <p:spPr>
          <a:xfrm>
            <a:off x="1285284" y="5037534"/>
            <a:ext cx="7149998" cy="548878"/>
          </a:xfrm>
          <a:prstGeom prst="rect">
            <a:avLst/>
          </a:prstGeom>
        </p:spPr>
        <p:txBody>
          <a:bodyPr lIns="0" tIns="0" rIns="0" bIns="0" rtlCol="0" anchor="t">
            <a:spAutoFit/>
          </a:bodyPr>
          <a:lstStyle/>
          <a:p>
            <a:pPr algn="l">
              <a:lnSpc>
                <a:spcPts val="3562"/>
              </a:lnSpc>
            </a:pPr>
            <a:r>
              <a:rPr lang="en-US" sz="2187">
                <a:solidFill>
                  <a:srgbClr val="3C3939"/>
                </a:solidFill>
                <a:latin typeface="Roboto"/>
                <a:ea typeface="Roboto"/>
                <a:cs typeface="Roboto"/>
                <a:sym typeface="Roboto"/>
              </a:rPr>
              <a:t>Recharts</a:t>
            </a:r>
          </a:p>
        </p:txBody>
      </p:sp>
      <p:grpSp>
        <p:nvGrpSpPr>
          <p:cNvPr id="16" name="Group 16"/>
          <p:cNvGrpSpPr/>
          <p:nvPr/>
        </p:nvGrpSpPr>
        <p:grpSpPr>
          <a:xfrm>
            <a:off x="9144000" y="2988764"/>
            <a:ext cx="8142237" cy="2881160"/>
            <a:chOff x="0" y="0"/>
            <a:chExt cx="10856316" cy="3841547"/>
          </a:xfrm>
        </p:grpSpPr>
        <p:sp>
          <p:nvSpPr>
            <p:cNvPr id="17" name="Freeform 17"/>
            <p:cNvSpPr/>
            <p:nvPr/>
          </p:nvSpPr>
          <p:spPr>
            <a:xfrm>
              <a:off x="0" y="0"/>
              <a:ext cx="10856341" cy="3841496"/>
            </a:xfrm>
            <a:custGeom>
              <a:avLst/>
              <a:gdLst/>
              <a:ahLst/>
              <a:cxnLst/>
              <a:rect l="l" t="t" r="r" b="b"/>
              <a:pathLst>
                <a:path w="10856341" h="3841496">
                  <a:moveTo>
                    <a:pt x="0" y="0"/>
                  </a:moveTo>
                  <a:lnTo>
                    <a:pt x="10856341" y="0"/>
                  </a:lnTo>
                  <a:lnTo>
                    <a:pt x="10856341" y="3841496"/>
                  </a:lnTo>
                  <a:lnTo>
                    <a:pt x="0" y="3841496"/>
                  </a:lnTo>
                  <a:close/>
                </a:path>
              </a:pathLst>
            </a:custGeom>
            <a:solidFill>
              <a:srgbClr val="E1E1EA"/>
            </a:solidFill>
          </p:spPr>
        </p:sp>
      </p:grpSp>
      <p:grpSp>
        <p:nvGrpSpPr>
          <p:cNvPr id="18" name="Group 18"/>
          <p:cNvGrpSpPr/>
          <p:nvPr/>
        </p:nvGrpSpPr>
        <p:grpSpPr>
          <a:xfrm>
            <a:off x="9144000" y="2988764"/>
            <a:ext cx="38100" cy="2881160"/>
            <a:chOff x="0" y="0"/>
            <a:chExt cx="50800" cy="3841547"/>
          </a:xfrm>
        </p:grpSpPr>
        <p:sp>
          <p:nvSpPr>
            <p:cNvPr id="19" name="Freeform 19"/>
            <p:cNvSpPr/>
            <p:nvPr/>
          </p:nvSpPr>
          <p:spPr>
            <a:xfrm>
              <a:off x="0" y="0"/>
              <a:ext cx="50800" cy="3841496"/>
            </a:xfrm>
            <a:custGeom>
              <a:avLst/>
              <a:gdLst/>
              <a:ahLst/>
              <a:cxnLst/>
              <a:rect l="l" t="t" r="r" b="b"/>
              <a:pathLst>
                <a:path w="50800" h="3841496">
                  <a:moveTo>
                    <a:pt x="0" y="25400"/>
                  </a:moveTo>
                  <a:cubicBezTo>
                    <a:pt x="0" y="11430"/>
                    <a:pt x="11430" y="0"/>
                    <a:pt x="25400" y="0"/>
                  </a:cubicBezTo>
                  <a:cubicBezTo>
                    <a:pt x="39370" y="0"/>
                    <a:pt x="50800" y="11430"/>
                    <a:pt x="50800" y="25400"/>
                  </a:cubicBezTo>
                  <a:lnTo>
                    <a:pt x="50800" y="3816096"/>
                  </a:lnTo>
                  <a:cubicBezTo>
                    <a:pt x="50800" y="3830066"/>
                    <a:pt x="39370" y="3841496"/>
                    <a:pt x="25400" y="3841496"/>
                  </a:cubicBezTo>
                  <a:cubicBezTo>
                    <a:pt x="11430" y="3841496"/>
                    <a:pt x="0" y="3830066"/>
                    <a:pt x="0" y="3816096"/>
                  </a:cubicBezTo>
                  <a:close/>
                </a:path>
              </a:pathLst>
            </a:custGeom>
            <a:solidFill>
              <a:srgbClr val="C7C7D0"/>
            </a:solidFill>
          </p:spPr>
        </p:sp>
      </p:grpSp>
      <p:sp>
        <p:nvSpPr>
          <p:cNvPr id="20" name="TextBox 20"/>
          <p:cNvSpPr txBox="1"/>
          <p:nvPr/>
        </p:nvSpPr>
        <p:spPr>
          <a:xfrm>
            <a:off x="9852717" y="3243710"/>
            <a:ext cx="3544043" cy="471487"/>
          </a:xfrm>
          <a:prstGeom prst="rect">
            <a:avLst/>
          </a:prstGeom>
        </p:spPr>
        <p:txBody>
          <a:bodyPr lIns="0" tIns="0" rIns="0" bIns="0" rtlCol="0" anchor="t">
            <a:spAutoFit/>
          </a:bodyPr>
          <a:lstStyle/>
          <a:p>
            <a:pPr algn="l">
              <a:lnSpc>
                <a:spcPts val="3437"/>
              </a:lnSpc>
            </a:pPr>
            <a:r>
              <a:rPr lang="en-US" sz="2750">
                <a:solidFill>
                  <a:srgbClr val="3C3939"/>
                </a:solidFill>
                <a:latin typeface="Raleway"/>
                <a:ea typeface="Raleway"/>
                <a:cs typeface="Raleway"/>
                <a:sym typeface="Raleway"/>
              </a:rPr>
              <a:t>Backend</a:t>
            </a:r>
          </a:p>
        </p:txBody>
      </p:sp>
      <p:sp>
        <p:nvSpPr>
          <p:cNvPr id="21" name="TextBox 21"/>
          <p:cNvSpPr txBox="1"/>
          <p:nvPr/>
        </p:nvSpPr>
        <p:spPr>
          <a:xfrm>
            <a:off x="9852717" y="3790055"/>
            <a:ext cx="7149998" cy="548878"/>
          </a:xfrm>
          <a:prstGeom prst="rect">
            <a:avLst/>
          </a:prstGeom>
        </p:spPr>
        <p:txBody>
          <a:bodyPr lIns="0" tIns="0" rIns="0" bIns="0" rtlCol="0" anchor="t">
            <a:spAutoFit/>
          </a:bodyPr>
          <a:lstStyle/>
          <a:p>
            <a:pPr algn="l">
              <a:lnSpc>
                <a:spcPts val="3562"/>
              </a:lnSpc>
            </a:pPr>
            <a:r>
              <a:rPr lang="en-US" sz="2187">
                <a:solidFill>
                  <a:srgbClr val="3C3939"/>
                </a:solidFill>
                <a:latin typeface="Roboto"/>
                <a:ea typeface="Roboto"/>
                <a:cs typeface="Roboto"/>
                <a:sym typeface="Roboto"/>
              </a:rPr>
              <a:t>Node.js</a:t>
            </a:r>
          </a:p>
        </p:txBody>
      </p:sp>
      <p:sp>
        <p:nvSpPr>
          <p:cNvPr id="22" name="TextBox 22"/>
          <p:cNvSpPr txBox="1"/>
          <p:nvPr/>
        </p:nvSpPr>
        <p:spPr>
          <a:xfrm>
            <a:off x="9852717" y="4413799"/>
            <a:ext cx="7149998" cy="548878"/>
          </a:xfrm>
          <a:prstGeom prst="rect">
            <a:avLst/>
          </a:prstGeom>
        </p:spPr>
        <p:txBody>
          <a:bodyPr lIns="0" tIns="0" rIns="0" bIns="0" rtlCol="0" anchor="t">
            <a:spAutoFit/>
          </a:bodyPr>
          <a:lstStyle/>
          <a:p>
            <a:pPr algn="l">
              <a:lnSpc>
                <a:spcPts val="3562"/>
              </a:lnSpc>
            </a:pPr>
            <a:r>
              <a:rPr lang="en-US" sz="2187">
                <a:solidFill>
                  <a:srgbClr val="3C3939"/>
                </a:solidFill>
                <a:latin typeface="Roboto"/>
                <a:ea typeface="Roboto"/>
                <a:cs typeface="Roboto"/>
                <a:sym typeface="Roboto"/>
              </a:rPr>
              <a:t>Express.js</a:t>
            </a:r>
          </a:p>
        </p:txBody>
      </p:sp>
      <p:grpSp>
        <p:nvGrpSpPr>
          <p:cNvPr id="23" name="Group 23"/>
          <p:cNvGrpSpPr/>
          <p:nvPr/>
        </p:nvGrpSpPr>
        <p:grpSpPr>
          <a:xfrm>
            <a:off x="8770591" y="4055859"/>
            <a:ext cx="746760" cy="746760"/>
            <a:chOff x="0" y="0"/>
            <a:chExt cx="995680" cy="995680"/>
          </a:xfrm>
        </p:grpSpPr>
        <p:sp>
          <p:nvSpPr>
            <p:cNvPr id="24" name="Freeform 24"/>
            <p:cNvSpPr/>
            <p:nvPr/>
          </p:nvSpPr>
          <p:spPr>
            <a:xfrm>
              <a:off x="25400" y="25400"/>
              <a:ext cx="944880" cy="944880"/>
            </a:xfrm>
            <a:custGeom>
              <a:avLst/>
              <a:gdLst/>
              <a:ahLst/>
              <a:cxnLst/>
              <a:rect l="l" t="t" r="r" b="b"/>
              <a:pathLst>
                <a:path w="944880" h="944880">
                  <a:moveTo>
                    <a:pt x="0" y="158750"/>
                  </a:moveTo>
                  <a:cubicBezTo>
                    <a:pt x="0" y="71120"/>
                    <a:pt x="71120" y="0"/>
                    <a:pt x="158750" y="0"/>
                  </a:cubicBezTo>
                  <a:lnTo>
                    <a:pt x="786130" y="0"/>
                  </a:lnTo>
                  <a:cubicBezTo>
                    <a:pt x="873760" y="0"/>
                    <a:pt x="944880" y="71120"/>
                    <a:pt x="944880" y="158750"/>
                  </a:cubicBezTo>
                  <a:lnTo>
                    <a:pt x="944880" y="786130"/>
                  </a:lnTo>
                  <a:cubicBezTo>
                    <a:pt x="944880" y="873760"/>
                    <a:pt x="873760" y="944880"/>
                    <a:pt x="786130" y="944880"/>
                  </a:cubicBezTo>
                  <a:lnTo>
                    <a:pt x="158750" y="944880"/>
                  </a:lnTo>
                  <a:cubicBezTo>
                    <a:pt x="71120" y="945007"/>
                    <a:pt x="0" y="873887"/>
                    <a:pt x="0" y="786130"/>
                  </a:cubicBezTo>
                  <a:close/>
                </a:path>
              </a:pathLst>
            </a:custGeom>
            <a:solidFill>
              <a:srgbClr val="FFFFFF">
                <a:alpha val="90196"/>
              </a:srgbClr>
            </a:solidFill>
          </p:spPr>
        </p:sp>
        <p:sp>
          <p:nvSpPr>
            <p:cNvPr id="25" name="Freeform 25"/>
            <p:cNvSpPr/>
            <p:nvPr/>
          </p:nvSpPr>
          <p:spPr>
            <a:xfrm>
              <a:off x="0" y="0"/>
              <a:ext cx="995680" cy="995680"/>
            </a:xfrm>
            <a:custGeom>
              <a:avLst/>
              <a:gdLst/>
              <a:ahLst/>
              <a:cxnLst/>
              <a:rect l="l" t="t" r="r" b="b"/>
              <a:pathLst>
                <a:path w="995680" h="995680">
                  <a:moveTo>
                    <a:pt x="0" y="184150"/>
                  </a:moveTo>
                  <a:cubicBezTo>
                    <a:pt x="0" y="82423"/>
                    <a:pt x="82423" y="0"/>
                    <a:pt x="184150" y="0"/>
                  </a:cubicBezTo>
                  <a:lnTo>
                    <a:pt x="811530" y="0"/>
                  </a:lnTo>
                  <a:lnTo>
                    <a:pt x="811530" y="25400"/>
                  </a:lnTo>
                  <a:lnTo>
                    <a:pt x="811530" y="0"/>
                  </a:lnTo>
                  <a:cubicBezTo>
                    <a:pt x="913257" y="0"/>
                    <a:pt x="995680" y="82423"/>
                    <a:pt x="995680" y="184150"/>
                  </a:cubicBezTo>
                  <a:lnTo>
                    <a:pt x="970280" y="184150"/>
                  </a:lnTo>
                  <a:lnTo>
                    <a:pt x="995680" y="184150"/>
                  </a:lnTo>
                  <a:lnTo>
                    <a:pt x="995680" y="811530"/>
                  </a:lnTo>
                  <a:lnTo>
                    <a:pt x="970280" y="811530"/>
                  </a:lnTo>
                  <a:lnTo>
                    <a:pt x="995680" y="811530"/>
                  </a:lnTo>
                  <a:cubicBezTo>
                    <a:pt x="995680" y="913257"/>
                    <a:pt x="913257" y="995680"/>
                    <a:pt x="811530" y="995680"/>
                  </a:cubicBezTo>
                  <a:lnTo>
                    <a:pt x="811530" y="970280"/>
                  </a:lnTo>
                  <a:lnTo>
                    <a:pt x="811530" y="995680"/>
                  </a:lnTo>
                  <a:lnTo>
                    <a:pt x="184150" y="995680"/>
                  </a:lnTo>
                  <a:lnTo>
                    <a:pt x="184150" y="970280"/>
                  </a:lnTo>
                  <a:lnTo>
                    <a:pt x="184150" y="995680"/>
                  </a:lnTo>
                  <a:cubicBezTo>
                    <a:pt x="82423" y="995807"/>
                    <a:pt x="0" y="913257"/>
                    <a:pt x="0" y="811530"/>
                  </a:cubicBezTo>
                  <a:lnTo>
                    <a:pt x="0" y="184150"/>
                  </a:lnTo>
                  <a:lnTo>
                    <a:pt x="25400" y="184150"/>
                  </a:lnTo>
                  <a:lnTo>
                    <a:pt x="0" y="184150"/>
                  </a:lnTo>
                  <a:moveTo>
                    <a:pt x="50800" y="184150"/>
                  </a:moveTo>
                  <a:lnTo>
                    <a:pt x="50800" y="811530"/>
                  </a:lnTo>
                  <a:lnTo>
                    <a:pt x="25400" y="811530"/>
                  </a:lnTo>
                  <a:lnTo>
                    <a:pt x="50800" y="811530"/>
                  </a:lnTo>
                  <a:cubicBezTo>
                    <a:pt x="50800" y="885190"/>
                    <a:pt x="110490" y="944880"/>
                    <a:pt x="184150" y="944880"/>
                  </a:cubicBezTo>
                  <a:lnTo>
                    <a:pt x="811530" y="944880"/>
                  </a:lnTo>
                  <a:cubicBezTo>
                    <a:pt x="885190" y="944880"/>
                    <a:pt x="944880" y="885190"/>
                    <a:pt x="944880" y="811530"/>
                  </a:cubicBezTo>
                  <a:lnTo>
                    <a:pt x="944880" y="184150"/>
                  </a:lnTo>
                  <a:cubicBezTo>
                    <a:pt x="945007" y="110490"/>
                    <a:pt x="885190" y="50800"/>
                    <a:pt x="811530" y="50800"/>
                  </a:cubicBezTo>
                  <a:lnTo>
                    <a:pt x="184150" y="50800"/>
                  </a:lnTo>
                  <a:lnTo>
                    <a:pt x="184150" y="25400"/>
                  </a:lnTo>
                  <a:lnTo>
                    <a:pt x="184150" y="50800"/>
                  </a:lnTo>
                  <a:cubicBezTo>
                    <a:pt x="110490" y="50800"/>
                    <a:pt x="50800" y="110490"/>
                    <a:pt x="50800" y="184150"/>
                  </a:cubicBezTo>
                  <a:close/>
                </a:path>
              </a:pathLst>
            </a:custGeom>
            <a:solidFill>
              <a:srgbClr val="C7C7D0"/>
            </a:solidFill>
          </p:spPr>
        </p:sp>
      </p:grpSp>
      <p:grpSp>
        <p:nvGrpSpPr>
          <p:cNvPr id="26" name="Group 26"/>
          <p:cNvGrpSpPr/>
          <p:nvPr/>
        </p:nvGrpSpPr>
        <p:grpSpPr>
          <a:xfrm>
            <a:off x="1001763" y="5869934"/>
            <a:ext cx="8142237" cy="2881160"/>
            <a:chOff x="0" y="0"/>
            <a:chExt cx="10856316" cy="3841547"/>
          </a:xfrm>
        </p:grpSpPr>
        <p:sp>
          <p:nvSpPr>
            <p:cNvPr id="27" name="Freeform 27"/>
            <p:cNvSpPr/>
            <p:nvPr/>
          </p:nvSpPr>
          <p:spPr>
            <a:xfrm>
              <a:off x="0" y="0"/>
              <a:ext cx="10856341" cy="3841496"/>
            </a:xfrm>
            <a:custGeom>
              <a:avLst/>
              <a:gdLst/>
              <a:ahLst/>
              <a:cxnLst/>
              <a:rect l="l" t="t" r="r" b="b"/>
              <a:pathLst>
                <a:path w="10856341" h="3841496">
                  <a:moveTo>
                    <a:pt x="0" y="0"/>
                  </a:moveTo>
                  <a:lnTo>
                    <a:pt x="10856341" y="0"/>
                  </a:lnTo>
                  <a:lnTo>
                    <a:pt x="10856341" y="3841496"/>
                  </a:lnTo>
                  <a:lnTo>
                    <a:pt x="0" y="3841496"/>
                  </a:lnTo>
                  <a:close/>
                </a:path>
              </a:pathLst>
            </a:custGeom>
            <a:solidFill>
              <a:srgbClr val="E1E1EA"/>
            </a:solidFill>
          </p:spPr>
        </p:sp>
      </p:grpSp>
      <p:grpSp>
        <p:nvGrpSpPr>
          <p:cNvPr id="28" name="Group 28"/>
          <p:cNvGrpSpPr/>
          <p:nvPr/>
        </p:nvGrpSpPr>
        <p:grpSpPr>
          <a:xfrm>
            <a:off x="1001763" y="5869934"/>
            <a:ext cx="8142237" cy="38100"/>
            <a:chOff x="0" y="0"/>
            <a:chExt cx="10856316" cy="50800"/>
          </a:xfrm>
        </p:grpSpPr>
        <p:sp>
          <p:nvSpPr>
            <p:cNvPr id="29" name="Freeform 29"/>
            <p:cNvSpPr/>
            <p:nvPr/>
          </p:nvSpPr>
          <p:spPr>
            <a:xfrm>
              <a:off x="0" y="0"/>
              <a:ext cx="10856341" cy="50800"/>
            </a:xfrm>
            <a:custGeom>
              <a:avLst/>
              <a:gdLst/>
              <a:ahLst/>
              <a:cxnLst/>
              <a:rect l="l" t="t" r="r" b="b"/>
              <a:pathLst>
                <a:path w="10856341" h="50800">
                  <a:moveTo>
                    <a:pt x="0" y="25400"/>
                  </a:moveTo>
                  <a:cubicBezTo>
                    <a:pt x="0" y="11430"/>
                    <a:pt x="11430" y="0"/>
                    <a:pt x="25400" y="0"/>
                  </a:cubicBezTo>
                  <a:lnTo>
                    <a:pt x="10830941" y="0"/>
                  </a:lnTo>
                  <a:cubicBezTo>
                    <a:pt x="10844911" y="0"/>
                    <a:pt x="10856341" y="11430"/>
                    <a:pt x="10856341" y="25400"/>
                  </a:cubicBezTo>
                  <a:cubicBezTo>
                    <a:pt x="10856341" y="39370"/>
                    <a:pt x="10844911" y="50800"/>
                    <a:pt x="10830941" y="50800"/>
                  </a:cubicBezTo>
                  <a:lnTo>
                    <a:pt x="25400" y="50800"/>
                  </a:lnTo>
                  <a:cubicBezTo>
                    <a:pt x="11430" y="50800"/>
                    <a:pt x="0" y="39370"/>
                    <a:pt x="0" y="25400"/>
                  </a:cubicBezTo>
                  <a:close/>
                </a:path>
              </a:pathLst>
            </a:custGeom>
            <a:solidFill>
              <a:srgbClr val="C7C7D0"/>
            </a:solidFill>
          </p:spPr>
        </p:sp>
      </p:grpSp>
      <p:sp>
        <p:nvSpPr>
          <p:cNvPr id="30" name="TextBox 30"/>
          <p:cNvSpPr txBox="1"/>
          <p:nvPr/>
        </p:nvSpPr>
        <p:spPr>
          <a:xfrm>
            <a:off x="1285284" y="6124870"/>
            <a:ext cx="3544043" cy="471487"/>
          </a:xfrm>
          <a:prstGeom prst="rect">
            <a:avLst/>
          </a:prstGeom>
        </p:spPr>
        <p:txBody>
          <a:bodyPr lIns="0" tIns="0" rIns="0" bIns="0" rtlCol="0" anchor="t">
            <a:spAutoFit/>
          </a:bodyPr>
          <a:lstStyle/>
          <a:p>
            <a:pPr algn="l">
              <a:lnSpc>
                <a:spcPts val="3437"/>
              </a:lnSpc>
            </a:pPr>
            <a:r>
              <a:rPr lang="en-US" sz="2750">
                <a:solidFill>
                  <a:srgbClr val="3C3939"/>
                </a:solidFill>
                <a:latin typeface="Raleway"/>
                <a:ea typeface="Raleway"/>
                <a:cs typeface="Raleway"/>
                <a:sym typeface="Raleway"/>
              </a:rPr>
              <a:t>Database</a:t>
            </a:r>
          </a:p>
        </p:txBody>
      </p:sp>
      <p:sp>
        <p:nvSpPr>
          <p:cNvPr id="31" name="TextBox 31"/>
          <p:cNvSpPr txBox="1"/>
          <p:nvPr/>
        </p:nvSpPr>
        <p:spPr>
          <a:xfrm>
            <a:off x="1285284" y="6671224"/>
            <a:ext cx="7149998" cy="548878"/>
          </a:xfrm>
          <a:prstGeom prst="rect">
            <a:avLst/>
          </a:prstGeom>
        </p:spPr>
        <p:txBody>
          <a:bodyPr lIns="0" tIns="0" rIns="0" bIns="0" rtlCol="0" anchor="t">
            <a:spAutoFit/>
          </a:bodyPr>
          <a:lstStyle/>
          <a:p>
            <a:pPr algn="l">
              <a:lnSpc>
                <a:spcPts val="3562"/>
              </a:lnSpc>
            </a:pPr>
            <a:r>
              <a:rPr lang="en-US" sz="2187">
                <a:solidFill>
                  <a:srgbClr val="3C3939"/>
                </a:solidFill>
                <a:latin typeface="Roboto"/>
                <a:ea typeface="Roboto"/>
                <a:cs typeface="Roboto"/>
                <a:sym typeface="Roboto"/>
              </a:rPr>
              <a:t>PostgreSQL</a:t>
            </a:r>
          </a:p>
        </p:txBody>
      </p:sp>
      <p:sp>
        <p:nvSpPr>
          <p:cNvPr id="32" name="TextBox 32"/>
          <p:cNvSpPr txBox="1"/>
          <p:nvPr/>
        </p:nvSpPr>
        <p:spPr>
          <a:xfrm>
            <a:off x="1285284" y="7294959"/>
            <a:ext cx="7149998" cy="548878"/>
          </a:xfrm>
          <a:prstGeom prst="rect">
            <a:avLst/>
          </a:prstGeom>
        </p:spPr>
        <p:txBody>
          <a:bodyPr lIns="0" tIns="0" rIns="0" bIns="0" rtlCol="0" anchor="t">
            <a:spAutoFit/>
          </a:bodyPr>
          <a:lstStyle/>
          <a:p>
            <a:pPr algn="l">
              <a:lnSpc>
                <a:spcPts val="3562"/>
              </a:lnSpc>
            </a:pPr>
            <a:r>
              <a:rPr lang="en-US" sz="2187">
                <a:solidFill>
                  <a:srgbClr val="3C3939"/>
                </a:solidFill>
                <a:latin typeface="Roboto"/>
                <a:ea typeface="Roboto"/>
                <a:cs typeface="Roboto"/>
                <a:sym typeface="Roboto"/>
              </a:rPr>
              <a:t>Neon Hosting</a:t>
            </a:r>
          </a:p>
        </p:txBody>
      </p:sp>
      <p:sp>
        <p:nvSpPr>
          <p:cNvPr id="33" name="TextBox 33"/>
          <p:cNvSpPr txBox="1"/>
          <p:nvPr/>
        </p:nvSpPr>
        <p:spPr>
          <a:xfrm>
            <a:off x="1285284" y="7918694"/>
            <a:ext cx="7149998" cy="548878"/>
          </a:xfrm>
          <a:prstGeom prst="rect">
            <a:avLst/>
          </a:prstGeom>
        </p:spPr>
        <p:txBody>
          <a:bodyPr lIns="0" tIns="0" rIns="0" bIns="0" rtlCol="0" anchor="t">
            <a:spAutoFit/>
          </a:bodyPr>
          <a:lstStyle/>
          <a:p>
            <a:pPr algn="l">
              <a:lnSpc>
                <a:spcPts val="3562"/>
              </a:lnSpc>
            </a:pPr>
            <a:r>
              <a:rPr lang="en-US" sz="2187">
                <a:solidFill>
                  <a:srgbClr val="3C3939"/>
                </a:solidFill>
                <a:latin typeface="Roboto"/>
                <a:ea typeface="Roboto"/>
                <a:cs typeface="Roboto"/>
                <a:sym typeface="Roboto"/>
              </a:rPr>
              <a:t>Sequelize ORM</a:t>
            </a:r>
          </a:p>
        </p:txBody>
      </p:sp>
      <p:grpSp>
        <p:nvGrpSpPr>
          <p:cNvPr id="34" name="Group 34"/>
          <p:cNvGrpSpPr/>
          <p:nvPr/>
        </p:nvGrpSpPr>
        <p:grpSpPr>
          <a:xfrm>
            <a:off x="9144000" y="5869934"/>
            <a:ext cx="8142237" cy="2881160"/>
            <a:chOff x="0" y="0"/>
            <a:chExt cx="10856316" cy="3841547"/>
          </a:xfrm>
        </p:grpSpPr>
        <p:sp>
          <p:nvSpPr>
            <p:cNvPr id="35" name="Freeform 35"/>
            <p:cNvSpPr/>
            <p:nvPr/>
          </p:nvSpPr>
          <p:spPr>
            <a:xfrm>
              <a:off x="0" y="0"/>
              <a:ext cx="10856341" cy="3841496"/>
            </a:xfrm>
            <a:custGeom>
              <a:avLst/>
              <a:gdLst/>
              <a:ahLst/>
              <a:cxnLst/>
              <a:rect l="l" t="t" r="r" b="b"/>
              <a:pathLst>
                <a:path w="10856341" h="3841496">
                  <a:moveTo>
                    <a:pt x="0" y="0"/>
                  </a:moveTo>
                  <a:lnTo>
                    <a:pt x="10856341" y="0"/>
                  </a:lnTo>
                  <a:lnTo>
                    <a:pt x="10856341" y="3841496"/>
                  </a:lnTo>
                  <a:lnTo>
                    <a:pt x="0" y="3841496"/>
                  </a:lnTo>
                  <a:close/>
                </a:path>
              </a:pathLst>
            </a:custGeom>
            <a:solidFill>
              <a:srgbClr val="E1E1EA"/>
            </a:solidFill>
          </p:spPr>
        </p:sp>
      </p:grpSp>
      <p:grpSp>
        <p:nvGrpSpPr>
          <p:cNvPr id="36" name="Group 36"/>
          <p:cNvGrpSpPr/>
          <p:nvPr/>
        </p:nvGrpSpPr>
        <p:grpSpPr>
          <a:xfrm>
            <a:off x="9144000" y="5869934"/>
            <a:ext cx="38100" cy="2881160"/>
            <a:chOff x="0" y="0"/>
            <a:chExt cx="50800" cy="3841547"/>
          </a:xfrm>
        </p:grpSpPr>
        <p:sp>
          <p:nvSpPr>
            <p:cNvPr id="37" name="Freeform 37"/>
            <p:cNvSpPr/>
            <p:nvPr/>
          </p:nvSpPr>
          <p:spPr>
            <a:xfrm>
              <a:off x="0" y="0"/>
              <a:ext cx="50800" cy="3841496"/>
            </a:xfrm>
            <a:custGeom>
              <a:avLst/>
              <a:gdLst/>
              <a:ahLst/>
              <a:cxnLst/>
              <a:rect l="l" t="t" r="r" b="b"/>
              <a:pathLst>
                <a:path w="50800" h="3841496">
                  <a:moveTo>
                    <a:pt x="0" y="25400"/>
                  </a:moveTo>
                  <a:cubicBezTo>
                    <a:pt x="0" y="11430"/>
                    <a:pt x="11430" y="0"/>
                    <a:pt x="25400" y="0"/>
                  </a:cubicBezTo>
                  <a:cubicBezTo>
                    <a:pt x="39370" y="0"/>
                    <a:pt x="50800" y="11430"/>
                    <a:pt x="50800" y="25400"/>
                  </a:cubicBezTo>
                  <a:lnTo>
                    <a:pt x="50800" y="3816096"/>
                  </a:lnTo>
                  <a:cubicBezTo>
                    <a:pt x="50800" y="3830066"/>
                    <a:pt x="39370" y="3841496"/>
                    <a:pt x="25400" y="3841496"/>
                  </a:cubicBezTo>
                  <a:cubicBezTo>
                    <a:pt x="11430" y="3841496"/>
                    <a:pt x="0" y="3830066"/>
                    <a:pt x="0" y="3816096"/>
                  </a:cubicBezTo>
                  <a:close/>
                </a:path>
              </a:pathLst>
            </a:custGeom>
            <a:solidFill>
              <a:srgbClr val="C7C7D0"/>
            </a:solidFill>
          </p:spPr>
        </p:sp>
      </p:grpSp>
      <p:grpSp>
        <p:nvGrpSpPr>
          <p:cNvPr id="38" name="Group 38"/>
          <p:cNvGrpSpPr/>
          <p:nvPr/>
        </p:nvGrpSpPr>
        <p:grpSpPr>
          <a:xfrm>
            <a:off x="9144000" y="5869934"/>
            <a:ext cx="8142237" cy="38100"/>
            <a:chOff x="0" y="0"/>
            <a:chExt cx="10856316" cy="50800"/>
          </a:xfrm>
        </p:grpSpPr>
        <p:sp>
          <p:nvSpPr>
            <p:cNvPr id="39" name="Freeform 39"/>
            <p:cNvSpPr/>
            <p:nvPr/>
          </p:nvSpPr>
          <p:spPr>
            <a:xfrm>
              <a:off x="0" y="0"/>
              <a:ext cx="10856341" cy="50800"/>
            </a:xfrm>
            <a:custGeom>
              <a:avLst/>
              <a:gdLst/>
              <a:ahLst/>
              <a:cxnLst/>
              <a:rect l="l" t="t" r="r" b="b"/>
              <a:pathLst>
                <a:path w="10856341" h="50800">
                  <a:moveTo>
                    <a:pt x="0" y="25400"/>
                  </a:moveTo>
                  <a:cubicBezTo>
                    <a:pt x="0" y="11430"/>
                    <a:pt x="11430" y="0"/>
                    <a:pt x="25400" y="0"/>
                  </a:cubicBezTo>
                  <a:lnTo>
                    <a:pt x="10830941" y="0"/>
                  </a:lnTo>
                  <a:cubicBezTo>
                    <a:pt x="10844911" y="0"/>
                    <a:pt x="10856341" y="11430"/>
                    <a:pt x="10856341" y="25400"/>
                  </a:cubicBezTo>
                  <a:cubicBezTo>
                    <a:pt x="10856341" y="39370"/>
                    <a:pt x="10844911" y="50800"/>
                    <a:pt x="10830941" y="50800"/>
                  </a:cubicBezTo>
                  <a:lnTo>
                    <a:pt x="25400" y="50800"/>
                  </a:lnTo>
                  <a:cubicBezTo>
                    <a:pt x="11430" y="50800"/>
                    <a:pt x="0" y="39370"/>
                    <a:pt x="0" y="25400"/>
                  </a:cubicBezTo>
                  <a:close/>
                </a:path>
              </a:pathLst>
            </a:custGeom>
            <a:solidFill>
              <a:srgbClr val="C7C7D0"/>
            </a:solidFill>
          </p:spPr>
        </p:sp>
      </p:grpSp>
      <p:sp>
        <p:nvSpPr>
          <p:cNvPr id="40" name="TextBox 40"/>
          <p:cNvSpPr txBox="1"/>
          <p:nvPr/>
        </p:nvSpPr>
        <p:spPr>
          <a:xfrm>
            <a:off x="9852717" y="6124870"/>
            <a:ext cx="3544043" cy="471487"/>
          </a:xfrm>
          <a:prstGeom prst="rect">
            <a:avLst/>
          </a:prstGeom>
        </p:spPr>
        <p:txBody>
          <a:bodyPr lIns="0" tIns="0" rIns="0" bIns="0" rtlCol="0" anchor="t">
            <a:spAutoFit/>
          </a:bodyPr>
          <a:lstStyle/>
          <a:p>
            <a:pPr algn="l">
              <a:lnSpc>
                <a:spcPts val="3437"/>
              </a:lnSpc>
            </a:pPr>
            <a:r>
              <a:rPr lang="en-US" sz="2750">
                <a:solidFill>
                  <a:srgbClr val="3C3939"/>
                </a:solidFill>
                <a:latin typeface="Raleway"/>
                <a:ea typeface="Raleway"/>
                <a:cs typeface="Raleway"/>
                <a:sym typeface="Raleway"/>
              </a:rPr>
              <a:t>Security</a:t>
            </a:r>
          </a:p>
        </p:txBody>
      </p:sp>
      <p:sp>
        <p:nvSpPr>
          <p:cNvPr id="41" name="TextBox 41"/>
          <p:cNvSpPr txBox="1"/>
          <p:nvPr/>
        </p:nvSpPr>
        <p:spPr>
          <a:xfrm>
            <a:off x="9852717" y="6671224"/>
            <a:ext cx="7149998" cy="548878"/>
          </a:xfrm>
          <a:prstGeom prst="rect">
            <a:avLst/>
          </a:prstGeom>
        </p:spPr>
        <p:txBody>
          <a:bodyPr lIns="0" tIns="0" rIns="0" bIns="0" rtlCol="0" anchor="t">
            <a:spAutoFit/>
          </a:bodyPr>
          <a:lstStyle/>
          <a:p>
            <a:pPr algn="l">
              <a:lnSpc>
                <a:spcPts val="3562"/>
              </a:lnSpc>
            </a:pPr>
            <a:r>
              <a:rPr lang="en-US" sz="2187">
                <a:solidFill>
                  <a:srgbClr val="3C3939"/>
                </a:solidFill>
                <a:latin typeface="Roboto"/>
                <a:ea typeface="Roboto"/>
                <a:cs typeface="Roboto"/>
                <a:sym typeface="Roboto"/>
              </a:rPr>
              <a:t>JWT Tokens</a:t>
            </a:r>
          </a:p>
        </p:txBody>
      </p:sp>
      <p:sp>
        <p:nvSpPr>
          <p:cNvPr id="42" name="TextBox 42"/>
          <p:cNvSpPr txBox="1"/>
          <p:nvPr/>
        </p:nvSpPr>
        <p:spPr>
          <a:xfrm>
            <a:off x="9852717" y="7294959"/>
            <a:ext cx="7149998" cy="548878"/>
          </a:xfrm>
          <a:prstGeom prst="rect">
            <a:avLst/>
          </a:prstGeom>
        </p:spPr>
        <p:txBody>
          <a:bodyPr lIns="0" tIns="0" rIns="0" bIns="0" rtlCol="0" anchor="t">
            <a:spAutoFit/>
          </a:bodyPr>
          <a:lstStyle/>
          <a:p>
            <a:pPr algn="l">
              <a:lnSpc>
                <a:spcPts val="3562"/>
              </a:lnSpc>
            </a:pPr>
            <a:r>
              <a:rPr lang="en-US" sz="2187">
                <a:solidFill>
                  <a:srgbClr val="3C3939"/>
                </a:solidFill>
                <a:latin typeface="Roboto"/>
                <a:ea typeface="Roboto"/>
                <a:cs typeface="Roboto"/>
                <a:sym typeface="Roboto"/>
              </a:rPr>
              <a:t>bcryptjs</a:t>
            </a:r>
          </a:p>
        </p:txBody>
      </p:sp>
      <p:grpSp>
        <p:nvGrpSpPr>
          <p:cNvPr id="43" name="Group 43"/>
          <p:cNvGrpSpPr/>
          <p:nvPr/>
        </p:nvGrpSpPr>
        <p:grpSpPr>
          <a:xfrm>
            <a:off x="8770591" y="6937029"/>
            <a:ext cx="746817" cy="746817"/>
            <a:chOff x="0" y="0"/>
            <a:chExt cx="995756" cy="995756"/>
          </a:xfrm>
        </p:grpSpPr>
        <p:sp>
          <p:nvSpPr>
            <p:cNvPr id="44" name="Freeform 44"/>
            <p:cNvSpPr/>
            <p:nvPr/>
          </p:nvSpPr>
          <p:spPr>
            <a:xfrm>
              <a:off x="25400" y="25400"/>
              <a:ext cx="944880" cy="944880"/>
            </a:xfrm>
            <a:custGeom>
              <a:avLst/>
              <a:gdLst/>
              <a:ahLst/>
              <a:cxnLst/>
              <a:rect l="l" t="t" r="r" b="b"/>
              <a:pathLst>
                <a:path w="944880" h="944880">
                  <a:moveTo>
                    <a:pt x="0" y="158750"/>
                  </a:moveTo>
                  <a:cubicBezTo>
                    <a:pt x="0" y="71120"/>
                    <a:pt x="71120" y="0"/>
                    <a:pt x="158750" y="0"/>
                  </a:cubicBezTo>
                  <a:lnTo>
                    <a:pt x="786130" y="0"/>
                  </a:lnTo>
                  <a:cubicBezTo>
                    <a:pt x="873760" y="0"/>
                    <a:pt x="944880" y="71120"/>
                    <a:pt x="944880" y="158750"/>
                  </a:cubicBezTo>
                  <a:lnTo>
                    <a:pt x="944880" y="786130"/>
                  </a:lnTo>
                  <a:cubicBezTo>
                    <a:pt x="944880" y="873760"/>
                    <a:pt x="873760" y="944880"/>
                    <a:pt x="786130" y="944880"/>
                  </a:cubicBezTo>
                  <a:lnTo>
                    <a:pt x="158750" y="944880"/>
                  </a:lnTo>
                  <a:cubicBezTo>
                    <a:pt x="71120" y="945007"/>
                    <a:pt x="0" y="873887"/>
                    <a:pt x="0" y="786130"/>
                  </a:cubicBezTo>
                  <a:close/>
                </a:path>
              </a:pathLst>
            </a:custGeom>
            <a:solidFill>
              <a:srgbClr val="FFFFFF">
                <a:alpha val="90196"/>
              </a:srgbClr>
            </a:solidFill>
          </p:spPr>
        </p:sp>
        <p:sp>
          <p:nvSpPr>
            <p:cNvPr id="45" name="Freeform 45"/>
            <p:cNvSpPr/>
            <p:nvPr/>
          </p:nvSpPr>
          <p:spPr>
            <a:xfrm>
              <a:off x="0" y="0"/>
              <a:ext cx="995680" cy="995680"/>
            </a:xfrm>
            <a:custGeom>
              <a:avLst/>
              <a:gdLst/>
              <a:ahLst/>
              <a:cxnLst/>
              <a:rect l="l" t="t" r="r" b="b"/>
              <a:pathLst>
                <a:path w="995680" h="995680">
                  <a:moveTo>
                    <a:pt x="0" y="184150"/>
                  </a:moveTo>
                  <a:cubicBezTo>
                    <a:pt x="0" y="82423"/>
                    <a:pt x="82423" y="0"/>
                    <a:pt x="184150" y="0"/>
                  </a:cubicBezTo>
                  <a:lnTo>
                    <a:pt x="811530" y="0"/>
                  </a:lnTo>
                  <a:lnTo>
                    <a:pt x="811530" y="25400"/>
                  </a:lnTo>
                  <a:lnTo>
                    <a:pt x="811530" y="0"/>
                  </a:lnTo>
                  <a:cubicBezTo>
                    <a:pt x="913257" y="0"/>
                    <a:pt x="995680" y="82423"/>
                    <a:pt x="995680" y="184150"/>
                  </a:cubicBezTo>
                  <a:lnTo>
                    <a:pt x="970280" y="184150"/>
                  </a:lnTo>
                  <a:lnTo>
                    <a:pt x="995680" y="184150"/>
                  </a:lnTo>
                  <a:lnTo>
                    <a:pt x="995680" y="811530"/>
                  </a:lnTo>
                  <a:lnTo>
                    <a:pt x="970280" y="811530"/>
                  </a:lnTo>
                  <a:lnTo>
                    <a:pt x="995680" y="811530"/>
                  </a:lnTo>
                  <a:cubicBezTo>
                    <a:pt x="995680" y="913257"/>
                    <a:pt x="913257" y="995680"/>
                    <a:pt x="811530" y="995680"/>
                  </a:cubicBezTo>
                  <a:lnTo>
                    <a:pt x="811530" y="970280"/>
                  </a:lnTo>
                  <a:lnTo>
                    <a:pt x="811530" y="995680"/>
                  </a:lnTo>
                  <a:lnTo>
                    <a:pt x="184150" y="995680"/>
                  </a:lnTo>
                  <a:lnTo>
                    <a:pt x="184150" y="970280"/>
                  </a:lnTo>
                  <a:lnTo>
                    <a:pt x="184150" y="995680"/>
                  </a:lnTo>
                  <a:cubicBezTo>
                    <a:pt x="82423" y="995807"/>
                    <a:pt x="0" y="913257"/>
                    <a:pt x="0" y="811530"/>
                  </a:cubicBezTo>
                  <a:lnTo>
                    <a:pt x="0" y="184150"/>
                  </a:lnTo>
                  <a:lnTo>
                    <a:pt x="25400" y="184150"/>
                  </a:lnTo>
                  <a:lnTo>
                    <a:pt x="0" y="184150"/>
                  </a:lnTo>
                  <a:moveTo>
                    <a:pt x="50800" y="184150"/>
                  </a:moveTo>
                  <a:lnTo>
                    <a:pt x="50800" y="811530"/>
                  </a:lnTo>
                  <a:lnTo>
                    <a:pt x="25400" y="811530"/>
                  </a:lnTo>
                  <a:lnTo>
                    <a:pt x="50800" y="811530"/>
                  </a:lnTo>
                  <a:cubicBezTo>
                    <a:pt x="50800" y="885190"/>
                    <a:pt x="110490" y="944880"/>
                    <a:pt x="184150" y="944880"/>
                  </a:cubicBezTo>
                  <a:lnTo>
                    <a:pt x="811530" y="944880"/>
                  </a:lnTo>
                  <a:cubicBezTo>
                    <a:pt x="885190" y="944880"/>
                    <a:pt x="944880" y="885190"/>
                    <a:pt x="944880" y="811530"/>
                  </a:cubicBezTo>
                  <a:lnTo>
                    <a:pt x="944880" y="184150"/>
                  </a:lnTo>
                  <a:cubicBezTo>
                    <a:pt x="945007" y="110490"/>
                    <a:pt x="885190" y="50800"/>
                    <a:pt x="811530" y="50800"/>
                  </a:cubicBezTo>
                  <a:lnTo>
                    <a:pt x="184150" y="50800"/>
                  </a:lnTo>
                  <a:lnTo>
                    <a:pt x="184150" y="25400"/>
                  </a:lnTo>
                  <a:lnTo>
                    <a:pt x="184150" y="50800"/>
                  </a:lnTo>
                  <a:cubicBezTo>
                    <a:pt x="110490" y="50800"/>
                    <a:pt x="50800" y="110490"/>
                    <a:pt x="50800" y="184150"/>
                  </a:cubicBezTo>
                  <a:close/>
                </a:path>
              </a:pathLst>
            </a:custGeom>
            <a:solidFill>
              <a:srgbClr val="C7C7D0"/>
            </a:solidFill>
          </p:spPr>
        </p:sp>
      </p:grpSp>
      <p:pic>
        <p:nvPicPr>
          <p:cNvPr id="46" name="Image 0" descr="preencoded.png">
            <a:extLst>
              <a:ext uri="{FF2B5EF4-FFF2-40B4-BE49-F238E27FC236}">
                <a16:creationId xmlns:a16="http://schemas.microsoft.com/office/drawing/2014/main" id="{564439BE-5AA7-7515-729F-A40C292D940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948065" y="4228513"/>
            <a:ext cx="401452" cy="401452"/>
          </a:xfrm>
          <a:prstGeom prst="rect">
            <a:avLst/>
          </a:prstGeom>
        </p:spPr>
      </p:pic>
      <p:pic>
        <p:nvPicPr>
          <p:cNvPr id="47" name="Image 1" descr="preencoded.png">
            <a:extLst>
              <a:ext uri="{FF2B5EF4-FFF2-40B4-BE49-F238E27FC236}">
                <a16:creationId xmlns:a16="http://schemas.microsoft.com/office/drawing/2014/main" id="{03EDF192-36AD-920A-2D22-4D1F7CE5209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27171" y="7077070"/>
            <a:ext cx="435777" cy="43577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CECF3"/>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sp>
        <p:nvSpPr>
          <p:cNvPr id="6" name="TextBox 6"/>
          <p:cNvSpPr txBox="1"/>
          <p:nvPr/>
        </p:nvSpPr>
        <p:spPr>
          <a:xfrm>
            <a:off x="992238" y="1303582"/>
            <a:ext cx="7088238" cy="914552"/>
          </a:xfrm>
          <a:prstGeom prst="rect">
            <a:avLst/>
          </a:prstGeom>
        </p:spPr>
        <p:txBody>
          <a:bodyPr lIns="0" tIns="0" rIns="0" bIns="0" rtlCol="0" anchor="t">
            <a:spAutoFit/>
          </a:bodyPr>
          <a:lstStyle/>
          <a:p>
            <a:pPr algn="l">
              <a:lnSpc>
                <a:spcPts val="6937"/>
              </a:lnSpc>
            </a:pPr>
            <a:r>
              <a:rPr lang="en-US" sz="5562">
                <a:solidFill>
                  <a:srgbClr val="1B1B27"/>
                </a:solidFill>
                <a:latin typeface="Raleway"/>
                <a:ea typeface="Raleway"/>
                <a:cs typeface="Raleway"/>
                <a:sym typeface="Raleway"/>
              </a:rPr>
              <a:t>System Architecture</a:t>
            </a:r>
          </a:p>
        </p:txBody>
      </p:sp>
      <p:sp>
        <p:nvSpPr>
          <p:cNvPr id="7" name="TextBox 7"/>
          <p:cNvSpPr txBox="1"/>
          <p:nvPr/>
        </p:nvSpPr>
        <p:spPr>
          <a:xfrm>
            <a:off x="992238" y="2898277"/>
            <a:ext cx="3544043" cy="471487"/>
          </a:xfrm>
          <a:prstGeom prst="rect">
            <a:avLst/>
          </a:prstGeom>
        </p:spPr>
        <p:txBody>
          <a:bodyPr lIns="0" tIns="0" rIns="0" bIns="0" rtlCol="0" anchor="t">
            <a:spAutoFit/>
          </a:bodyPr>
          <a:lstStyle/>
          <a:p>
            <a:pPr algn="l">
              <a:lnSpc>
                <a:spcPts val="3437"/>
              </a:lnSpc>
            </a:pPr>
            <a:r>
              <a:rPr lang="en-US" sz="2750">
                <a:solidFill>
                  <a:srgbClr val="1B1B27"/>
                </a:solidFill>
                <a:latin typeface="Raleway"/>
                <a:ea typeface="Raleway"/>
                <a:cs typeface="Raleway"/>
                <a:sym typeface="Raleway"/>
              </a:rPr>
              <a:t>Client-Server Model</a:t>
            </a:r>
          </a:p>
        </p:txBody>
      </p:sp>
      <p:sp>
        <p:nvSpPr>
          <p:cNvPr id="8" name="TextBox 8"/>
          <p:cNvSpPr txBox="1"/>
          <p:nvPr/>
        </p:nvSpPr>
        <p:spPr>
          <a:xfrm>
            <a:off x="992238" y="3558035"/>
            <a:ext cx="6956079" cy="1909762"/>
          </a:xfrm>
          <a:prstGeom prst="rect">
            <a:avLst/>
          </a:prstGeom>
        </p:spPr>
        <p:txBody>
          <a:bodyPr lIns="0" tIns="0" rIns="0" bIns="0" rtlCol="0" anchor="t">
            <a:spAutoFit/>
          </a:bodyPr>
          <a:lstStyle/>
          <a:p>
            <a:pPr algn="l">
              <a:lnSpc>
                <a:spcPts val="3562"/>
              </a:lnSpc>
            </a:pPr>
            <a:r>
              <a:rPr lang="en-US" sz="2187">
                <a:solidFill>
                  <a:srgbClr val="3C3939"/>
                </a:solidFill>
                <a:latin typeface="Roboto"/>
                <a:ea typeface="Roboto"/>
                <a:cs typeface="Roboto"/>
                <a:sym typeface="Roboto"/>
              </a:rPr>
              <a:t>The application follows a three-tier architecture where the React frontend serves as the client, Node.js/Express handles server-side logic, and PostgreSQL manages persistent data storage.</a:t>
            </a:r>
          </a:p>
        </p:txBody>
      </p:sp>
      <p:sp>
        <p:nvSpPr>
          <p:cNvPr id="9" name="TextBox 9"/>
          <p:cNvSpPr txBox="1"/>
          <p:nvPr/>
        </p:nvSpPr>
        <p:spPr>
          <a:xfrm>
            <a:off x="992238" y="5627637"/>
            <a:ext cx="6956079" cy="1456134"/>
          </a:xfrm>
          <a:prstGeom prst="rect">
            <a:avLst/>
          </a:prstGeom>
        </p:spPr>
        <p:txBody>
          <a:bodyPr lIns="0" tIns="0" rIns="0" bIns="0" rtlCol="0" anchor="t">
            <a:spAutoFit/>
          </a:bodyPr>
          <a:lstStyle/>
          <a:p>
            <a:pPr algn="l">
              <a:lnSpc>
                <a:spcPts val="3562"/>
              </a:lnSpc>
            </a:pPr>
            <a:r>
              <a:rPr lang="en-US" sz="2187" b="1">
                <a:solidFill>
                  <a:srgbClr val="3C3939"/>
                </a:solidFill>
                <a:latin typeface="Roboto Bold"/>
                <a:ea typeface="Roboto Bold"/>
                <a:cs typeface="Roboto Bold"/>
                <a:sym typeface="Roboto Bold"/>
              </a:rPr>
              <a:t>API Communication:</a:t>
            </a:r>
            <a:r>
              <a:rPr lang="en-US" sz="2187">
                <a:solidFill>
                  <a:srgbClr val="3C3939"/>
                </a:solidFill>
                <a:latin typeface="Roboto"/>
                <a:ea typeface="Roboto"/>
                <a:cs typeface="Roboto"/>
                <a:sym typeface="Roboto"/>
              </a:rPr>
              <a:t> RESTful endpoints enable seamless data exchange between client and server using HTTP requests</a:t>
            </a:r>
          </a:p>
        </p:txBody>
      </p:sp>
      <p:sp>
        <p:nvSpPr>
          <p:cNvPr id="10" name="TextBox 10"/>
          <p:cNvSpPr txBox="1"/>
          <p:nvPr/>
        </p:nvSpPr>
        <p:spPr>
          <a:xfrm>
            <a:off x="992238" y="7243610"/>
            <a:ext cx="6956079" cy="1456134"/>
          </a:xfrm>
          <a:prstGeom prst="rect">
            <a:avLst/>
          </a:prstGeom>
        </p:spPr>
        <p:txBody>
          <a:bodyPr lIns="0" tIns="0" rIns="0" bIns="0" rtlCol="0" anchor="t">
            <a:spAutoFit/>
          </a:bodyPr>
          <a:lstStyle/>
          <a:p>
            <a:pPr algn="l">
              <a:lnSpc>
                <a:spcPts val="3562"/>
              </a:lnSpc>
            </a:pPr>
            <a:r>
              <a:rPr lang="en-US" sz="2187" b="1">
                <a:solidFill>
                  <a:srgbClr val="3C3939"/>
                </a:solidFill>
                <a:latin typeface="Roboto Bold"/>
                <a:ea typeface="Roboto Bold"/>
                <a:cs typeface="Roboto Bold"/>
                <a:sym typeface="Roboto Bold"/>
              </a:rPr>
              <a:t>Data Flow:</a:t>
            </a:r>
            <a:r>
              <a:rPr lang="en-US" sz="2187">
                <a:solidFill>
                  <a:srgbClr val="3C3939"/>
                </a:solidFill>
                <a:latin typeface="Roboto"/>
                <a:ea typeface="Roboto"/>
                <a:cs typeface="Roboto"/>
                <a:sym typeface="Roboto"/>
              </a:rPr>
              <a:t> User actions trigger API calls that process data and update the database, with responses rendered on the frontend</a:t>
            </a:r>
          </a:p>
        </p:txBody>
      </p:sp>
      <p:grpSp>
        <p:nvGrpSpPr>
          <p:cNvPr id="11" name="Group 11"/>
          <p:cNvGrpSpPr/>
          <p:nvPr/>
        </p:nvGrpSpPr>
        <p:grpSpPr>
          <a:xfrm>
            <a:off x="8649595" y="3346694"/>
            <a:ext cx="8655548" cy="4904784"/>
            <a:chOff x="0" y="0"/>
            <a:chExt cx="11540731" cy="6539713"/>
          </a:xfrm>
        </p:grpSpPr>
        <p:sp>
          <p:nvSpPr>
            <p:cNvPr id="12" name="Freeform 12" descr="preencoded.png"/>
            <p:cNvSpPr/>
            <p:nvPr/>
          </p:nvSpPr>
          <p:spPr>
            <a:xfrm>
              <a:off x="0" y="0"/>
              <a:ext cx="11540744" cy="6539738"/>
            </a:xfrm>
            <a:custGeom>
              <a:avLst/>
              <a:gdLst/>
              <a:ahLst/>
              <a:cxnLst/>
              <a:rect l="l" t="t" r="r" b="b"/>
              <a:pathLst>
                <a:path w="11540744" h="6539738">
                  <a:moveTo>
                    <a:pt x="0" y="0"/>
                  </a:moveTo>
                  <a:lnTo>
                    <a:pt x="11540744" y="0"/>
                  </a:lnTo>
                  <a:lnTo>
                    <a:pt x="11540744" y="6539738"/>
                  </a:lnTo>
                  <a:lnTo>
                    <a:pt x="0" y="6539738"/>
                  </a:lnTo>
                  <a:lnTo>
                    <a:pt x="0" y="0"/>
                  </a:lnTo>
                  <a:close/>
                </a:path>
              </a:pathLst>
            </a:custGeom>
            <a:blipFill>
              <a:blip r:embed="rId2"/>
              <a:stretch>
                <a:fillRect l="-9" r="-9"/>
              </a:stretch>
            </a:blipFill>
          </p:spPr>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CECF3"/>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sp>
        <p:nvSpPr>
          <p:cNvPr id="6" name="TextBox 6"/>
          <p:cNvSpPr txBox="1"/>
          <p:nvPr/>
        </p:nvSpPr>
        <p:spPr>
          <a:xfrm>
            <a:off x="992238" y="778964"/>
            <a:ext cx="9474994" cy="914552"/>
          </a:xfrm>
          <a:prstGeom prst="rect">
            <a:avLst/>
          </a:prstGeom>
        </p:spPr>
        <p:txBody>
          <a:bodyPr lIns="0" tIns="0" rIns="0" bIns="0" rtlCol="0" anchor="t">
            <a:spAutoFit/>
          </a:bodyPr>
          <a:lstStyle/>
          <a:p>
            <a:pPr algn="l">
              <a:lnSpc>
                <a:spcPts val="6937"/>
              </a:lnSpc>
            </a:pPr>
            <a:r>
              <a:rPr lang="en-US" sz="5562">
                <a:solidFill>
                  <a:srgbClr val="1B1B27"/>
                </a:solidFill>
                <a:latin typeface="Raleway"/>
                <a:ea typeface="Raleway"/>
                <a:cs typeface="Raleway"/>
                <a:sym typeface="Raleway"/>
              </a:rPr>
              <a:t>Database Schema &amp; Security</a:t>
            </a:r>
          </a:p>
        </p:txBody>
      </p:sp>
      <p:grpSp>
        <p:nvGrpSpPr>
          <p:cNvPr id="7" name="Group 7"/>
          <p:cNvGrpSpPr/>
          <p:nvPr/>
        </p:nvGrpSpPr>
        <p:grpSpPr>
          <a:xfrm>
            <a:off x="973188" y="2241499"/>
            <a:ext cx="8048034" cy="3505791"/>
            <a:chOff x="0" y="0"/>
            <a:chExt cx="10730713" cy="4674387"/>
          </a:xfrm>
        </p:grpSpPr>
        <p:sp>
          <p:nvSpPr>
            <p:cNvPr id="8" name="Freeform 8"/>
            <p:cNvSpPr/>
            <p:nvPr/>
          </p:nvSpPr>
          <p:spPr>
            <a:xfrm>
              <a:off x="25400" y="25400"/>
              <a:ext cx="10679938" cy="4623562"/>
            </a:xfrm>
            <a:custGeom>
              <a:avLst/>
              <a:gdLst/>
              <a:ahLst/>
              <a:cxnLst/>
              <a:rect l="l" t="t" r="r" b="b"/>
              <a:pathLst>
                <a:path w="10679938" h="4623562">
                  <a:moveTo>
                    <a:pt x="0" y="158750"/>
                  </a:moveTo>
                  <a:cubicBezTo>
                    <a:pt x="0" y="71120"/>
                    <a:pt x="71501" y="0"/>
                    <a:pt x="159766" y="0"/>
                  </a:cubicBezTo>
                  <a:lnTo>
                    <a:pt x="10520172" y="0"/>
                  </a:lnTo>
                  <a:cubicBezTo>
                    <a:pt x="10608437" y="0"/>
                    <a:pt x="10679938" y="71120"/>
                    <a:pt x="10679938" y="158750"/>
                  </a:cubicBezTo>
                  <a:lnTo>
                    <a:pt x="10679938" y="4464812"/>
                  </a:lnTo>
                  <a:cubicBezTo>
                    <a:pt x="10679938" y="4552442"/>
                    <a:pt x="10608437" y="4623562"/>
                    <a:pt x="10520172" y="4623562"/>
                  </a:cubicBezTo>
                  <a:lnTo>
                    <a:pt x="159766" y="4623562"/>
                  </a:lnTo>
                  <a:cubicBezTo>
                    <a:pt x="71501" y="4623562"/>
                    <a:pt x="0" y="4552442"/>
                    <a:pt x="0" y="4464812"/>
                  </a:cubicBezTo>
                  <a:close/>
                </a:path>
              </a:pathLst>
            </a:custGeom>
            <a:solidFill>
              <a:srgbClr val="FFFFFF">
                <a:alpha val="90196"/>
              </a:srgbClr>
            </a:solidFill>
          </p:spPr>
        </p:sp>
        <p:sp>
          <p:nvSpPr>
            <p:cNvPr id="9" name="Freeform 9"/>
            <p:cNvSpPr/>
            <p:nvPr/>
          </p:nvSpPr>
          <p:spPr>
            <a:xfrm>
              <a:off x="0" y="0"/>
              <a:ext cx="10730738" cy="4674362"/>
            </a:xfrm>
            <a:custGeom>
              <a:avLst/>
              <a:gdLst/>
              <a:ahLst/>
              <a:cxnLst/>
              <a:rect l="l" t="t" r="r" b="b"/>
              <a:pathLst>
                <a:path w="10730738" h="4674362">
                  <a:moveTo>
                    <a:pt x="0" y="184150"/>
                  </a:moveTo>
                  <a:cubicBezTo>
                    <a:pt x="0" y="82296"/>
                    <a:pt x="83058" y="0"/>
                    <a:pt x="185166" y="0"/>
                  </a:cubicBezTo>
                  <a:lnTo>
                    <a:pt x="10545572" y="0"/>
                  </a:lnTo>
                  <a:lnTo>
                    <a:pt x="10545572" y="25400"/>
                  </a:lnTo>
                  <a:lnTo>
                    <a:pt x="10545572" y="0"/>
                  </a:lnTo>
                  <a:cubicBezTo>
                    <a:pt x="10647680" y="0"/>
                    <a:pt x="10730738" y="82296"/>
                    <a:pt x="10730738" y="184150"/>
                  </a:cubicBezTo>
                  <a:lnTo>
                    <a:pt x="10705338" y="184150"/>
                  </a:lnTo>
                  <a:lnTo>
                    <a:pt x="10730738" y="184150"/>
                  </a:lnTo>
                  <a:lnTo>
                    <a:pt x="10730738" y="4490212"/>
                  </a:lnTo>
                  <a:lnTo>
                    <a:pt x="10705338" y="4490212"/>
                  </a:lnTo>
                  <a:lnTo>
                    <a:pt x="10730738" y="4490212"/>
                  </a:lnTo>
                  <a:cubicBezTo>
                    <a:pt x="10730738" y="4592066"/>
                    <a:pt x="10647680" y="4674362"/>
                    <a:pt x="10545572" y="4674362"/>
                  </a:cubicBezTo>
                  <a:lnTo>
                    <a:pt x="10545572" y="4648962"/>
                  </a:lnTo>
                  <a:lnTo>
                    <a:pt x="10545572" y="4674362"/>
                  </a:lnTo>
                  <a:lnTo>
                    <a:pt x="185166" y="4674362"/>
                  </a:lnTo>
                  <a:lnTo>
                    <a:pt x="185166" y="4648962"/>
                  </a:lnTo>
                  <a:lnTo>
                    <a:pt x="185166" y="4674362"/>
                  </a:lnTo>
                  <a:cubicBezTo>
                    <a:pt x="83058" y="4674362"/>
                    <a:pt x="0" y="4592066"/>
                    <a:pt x="0" y="4490212"/>
                  </a:cubicBezTo>
                  <a:lnTo>
                    <a:pt x="0" y="184150"/>
                  </a:lnTo>
                  <a:lnTo>
                    <a:pt x="25400" y="184150"/>
                  </a:lnTo>
                  <a:lnTo>
                    <a:pt x="0" y="184150"/>
                  </a:lnTo>
                  <a:moveTo>
                    <a:pt x="50800" y="184150"/>
                  </a:moveTo>
                  <a:lnTo>
                    <a:pt x="50800" y="4490212"/>
                  </a:lnTo>
                  <a:lnTo>
                    <a:pt x="25400" y="4490212"/>
                  </a:lnTo>
                  <a:lnTo>
                    <a:pt x="50800" y="4490212"/>
                  </a:lnTo>
                  <a:cubicBezTo>
                    <a:pt x="50800" y="4563745"/>
                    <a:pt x="110744" y="4623562"/>
                    <a:pt x="185166" y="4623562"/>
                  </a:cubicBezTo>
                  <a:lnTo>
                    <a:pt x="10545572" y="4623562"/>
                  </a:lnTo>
                  <a:cubicBezTo>
                    <a:pt x="10619867" y="4623562"/>
                    <a:pt x="10679938" y="4563745"/>
                    <a:pt x="10679938" y="4490212"/>
                  </a:cubicBezTo>
                  <a:lnTo>
                    <a:pt x="10679938" y="184150"/>
                  </a:lnTo>
                  <a:cubicBezTo>
                    <a:pt x="10679938" y="110617"/>
                    <a:pt x="10619994" y="50800"/>
                    <a:pt x="10545572" y="50800"/>
                  </a:cubicBezTo>
                  <a:lnTo>
                    <a:pt x="185166" y="50800"/>
                  </a:lnTo>
                  <a:lnTo>
                    <a:pt x="185166" y="25400"/>
                  </a:lnTo>
                  <a:lnTo>
                    <a:pt x="185166" y="50800"/>
                  </a:lnTo>
                  <a:cubicBezTo>
                    <a:pt x="110744" y="50800"/>
                    <a:pt x="50800" y="110617"/>
                    <a:pt x="50800" y="184150"/>
                  </a:cubicBezTo>
                  <a:close/>
                </a:path>
              </a:pathLst>
            </a:custGeom>
            <a:solidFill>
              <a:srgbClr val="C7C7D0"/>
            </a:solidFill>
          </p:spPr>
        </p:sp>
      </p:grpSp>
      <p:grpSp>
        <p:nvGrpSpPr>
          <p:cNvPr id="10" name="Group 10"/>
          <p:cNvGrpSpPr/>
          <p:nvPr/>
        </p:nvGrpSpPr>
        <p:grpSpPr>
          <a:xfrm>
            <a:off x="1030338" y="2298649"/>
            <a:ext cx="7933734" cy="850554"/>
            <a:chOff x="0" y="0"/>
            <a:chExt cx="10578313" cy="1134072"/>
          </a:xfrm>
        </p:grpSpPr>
        <p:sp>
          <p:nvSpPr>
            <p:cNvPr id="11" name="Freeform 11"/>
            <p:cNvSpPr/>
            <p:nvPr/>
          </p:nvSpPr>
          <p:spPr>
            <a:xfrm>
              <a:off x="0" y="0"/>
              <a:ext cx="10578211" cy="1133983"/>
            </a:xfrm>
            <a:custGeom>
              <a:avLst/>
              <a:gdLst/>
              <a:ahLst/>
              <a:cxnLst/>
              <a:rect l="l" t="t" r="r" b="b"/>
              <a:pathLst>
                <a:path w="10578211" h="1133983">
                  <a:moveTo>
                    <a:pt x="0" y="97790"/>
                  </a:moveTo>
                  <a:cubicBezTo>
                    <a:pt x="0" y="43815"/>
                    <a:pt x="43815" y="0"/>
                    <a:pt x="97790" y="0"/>
                  </a:cubicBezTo>
                  <a:lnTo>
                    <a:pt x="10480421" y="0"/>
                  </a:lnTo>
                  <a:cubicBezTo>
                    <a:pt x="10534396" y="0"/>
                    <a:pt x="10578211" y="43815"/>
                    <a:pt x="10578211" y="97790"/>
                  </a:cubicBezTo>
                  <a:lnTo>
                    <a:pt x="10578211" y="1036193"/>
                  </a:lnTo>
                  <a:cubicBezTo>
                    <a:pt x="10578211" y="1090168"/>
                    <a:pt x="10534396" y="1133983"/>
                    <a:pt x="10480421" y="1133983"/>
                  </a:cubicBezTo>
                  <a:lnTo>
                    <a:pt x="97790" y="1133983"/>
                  </a:lnTo>
                  <a:cubicBezTo>
                    <a:pt x="43815" y="1133983"/>
                    <a:pt x="0" y="1090168"/>
                    <a:pt x="0" y="1036193"/>
                  </a:cubicBezTo>
                  <a:close/>
                </a:path>
              </a:pathLst>
            </a:custGeom>
            <a:solidFill>
              <a:srgbClr val="E1E1EA"/>
            </a:solidFill>
          </p:spPr>
        </p:sp>
      </p:grpSp>
      <p:sp>
        <p:nvSpPr>
          <p:cNvPr id="12" name="TextBox 12"/>
          <p:cNvSpPr txBox="1"/>
          <p:nvPr/>
        </p:nvSpPr>
        <p:spPr>
          <a:xfrm>
            <a:off x="4784522" y="2500903"/>
            <a:ext cx="425206" cy="483984"/>
          </a:xfrm>
          <a:prstGeom prst="rect">
            <a:avLst/>
          </a:prstGeom>
        </p:spPr>
        <p:txBody>
          <a:bodyPr lIns="0" tIns="0" rIns="0" bIns="0" rtlCol="0" anchor="t">
            <a:spAutoFit/>
          </a:bodyPr>
          <a:lstStyle/>
          <a:p>
            <a:pPr algn="l">
              <a:lnSpc>
                <a:spcPts val="3312"/>
              </a:lnSpc>
            </a:pPr>
            <a:r>
              <a:rPr lang="en-US" sz="3312">
                <a:solidFill>
                  <a:srgbClr val="3C3939"/>
                </a:solidFill>
                <a:latin typeface="Raleway"/>
                <a:ea typeface="Raleway"/>
                <a:cs typeface="Raleway"/>
                <a:sym typeface="Raleway"/>
              </a:rPr>
              <a:t>1</a:t>
            </a:r>
          </a:p>
        </p:txBody>
      </p:sp>
      <p:sp>
        <p:nvSpPr>
          <p:cNvPr id="13" name="TextBox 13"/>
          <p:cNvSpPr txBox="1"/>
          <p:nvPr/>
        </p:nvSpPr>
        <p:spPr>
          <a:xfrm>
            <a:off x="1313859" y="3404149"/>
            <a:ext cx="3544043" cy="471487"/>
          </a:xfrm>
          <a:prstGeom prst="rect">
            <a:avLst/>
          </a:prstGeom>
        </p:spPr>
        <p:txBody>
          <a:bodyPr lIns="0" tIns="0" rIns="0" bIns="0" rtlCol="0" anchor="t">
            <a:spAutoFit/>
          </a:bodyPr>
          <a:lstStyle/>
          <a:p>
            <a:pPr algn="l">
              <a:lnSpc>
                <a:spcPts val="3437"/>
              </a:lnSpc>
            </a:pPr>
            <a:r>
              <a:rPr lang="en-US" sz="2750">
                <a:solidFill>
                  <a:srgbClr val="3C3939"/>
                </a:solidFill>
                <a:latin typeface="Raleway"/>
                <a:ea typeface="Raleway"/>
                <a:cs typeface="Raleway"/>
                <a:sym typeface="Raleway"/>
              </a:rPr>
              <a:t>Users Table</a:t>
            </a:r>
          </a:p>
        </p:txBody>
      </p:sp>
      <p:sp>
        <p:nvSpPr>
          <p:cNvPr id="14" name="TextBox 14"/>
          <p:cNvSpPr txBox="1"/>
          <p:nvPr/>
        </p:nvSpPr>
        <p:spPr>
          <a:xfrm>
            <a:off x="1313859" y="3950494"/>
            <a:ext cx="7366692" cy="1456134"/>
          </a:xfrm>
          <a:prstGeom prst="rect">
            <a:avLst/>
          </a:prstGeom>
        </p:spPr>
        <p:txBody>
          <a:bodyPr lIns="0" tIns="0" rIns="0" bIns="0" rtlCol="0" anchor="t">
            <a:spAutoFit/>
          </a:bodyPr>
          <a:lstStyle/>
          <a:p>
            <a:pPr algn="l">
              <a:lnSpc>
                <a:spcPts val="3562"/>
              </a:lnSpc>
            </a:pPr>
            <a:r>
              <a:rPr lang="en-US" sz="2187">
                <a:solidFill>
                  <a:srgbClr val="3C3939"/>
                </a:solidFill>
                <a:latin typeface="Roboto"/>
                <a:ea typeface="Roboto"/>
                <a:cs typeface="Roboto"/>
                <a:sym typeface="Roboto"/>
              </a:rPr>
              <a:t>Stores user credentials with encrypted passwords, email addresses, and authentication tokens. Primary key ensures unique identification.</a:t>
            </a:r>
          </a:p>
        </p:txBody>
      </p:sp>
      <p:grpSp>
        <p:nvGrpSpPr>
          <p:cNvPr id="15" name="Group 15"/>
          <p:cNvGrpSpPr/>
          <p:nvPr/>
        </p:nvGrpSpPr>
        <p:grpSpPr>
          <a:xfrm>
            <a:off x="9266634" y="2241499"/>
            <a:ext cx="8048177" cy="3505791"/>
            <a:chOff x="0" y="0"/>
            <a:chExt cx="10730903" cy="4674387"/>
          </a:xfrm>
        </p:grpSpPr>
        <p:sp>
          <p:nvSpPr>
            <p:cNvPr id="16" name="Freeform 16"/>
            <p:cNvSpPr/>
            <p:nvPr/>
          </p:nvSpPr>
          <p:spPr>
            <a:xfrm>
              <a:off x="25400" y="25400"/>
              <a:ext cx="10680065" cy="4623562"/>
            </a:xfrm>
            <a:custGeom>
              <a:avLst/>
              <a:gdLst/>
              <a:ahLst/>
              <a:cxnLst/>
              <a:rect l="l" t="t" r="r" b="b"/>
              <a:pathLst>
                <a:path w="10680065" h="4623562">
                  <a:moveTo>
                    <a:pt x="0" y="158750"/>
                  </a:moveTo>
                  <a:cubicBezTo>
                    <a:pt x="0" y="71120"/>
                    <a:pt x="71501" y="0"/>
                    <a:pt x="159766" y="0"/>
                  </a:cubicBezTo>
                  <a:lnTo>
                    <a:pt x="10520299" y="0"/>
                  </a:lnTo>
                  <a:cubicBezTo>
                    <a:pt x="10608564" y="0"/>
                    <a:pt x="10680065" y="71120"/>
                    <a:pt x="10680065" y="158750"/>
                  </a:cubicBezTo>
                  <a:lnTo>
                    <a:pt x="10680065" y="4464812"/>
                  </a:lnTo>
                  <a:cubicBezTo>
                    <a:pt x="10680065" y="4552442"/>
                    <a:pt x="10608564" y="4623562"/>
                    <a:pt x="10520299" y="4623562"/>
                  </a:cubicBezTo>
                  <a:lnTo>
                    <a:pt x="159766" y="4623562"/>
                  </a:lnTo>
                  <a:cubicBezTo>
                    <a:pt x="71501" y="4623562"/>
                    <a:pt x="0" y="4552442"/>
                    <a:pt x="0" y="4464812"/>
                  </a:cubicBezTo>
                  <a:close/>
                </a:path>
              </a:pathLst>
            </a:custGeom>
            <a:solidFill>
              <a:srgbClr val="FFFFFF">
                <a:alpha val="90196"/>
              </a:srgbClr>
            </a:solidFill>
          </p:spPr>
        </p:sp>
        <p:sp>
          <p:nvSpPr>
            <p:cNvPr id="17" name="Freeform 17"/>
            <p:cNvSpPr/>
            <p:nvPr/>
          </p:nvSpPr>
          <p:spPr>
            <a:xfrm>
              <a:off x="0" y="0"/>
              <a:ext cx="10730865" cy="4674362"/>
            </a:xfrm>
            <a:custGeom>
              <a:avLst/>
              <a:gdLst/>
              <a:ahLst/>
              <a:cxnLst/>
              <a:rect l="l" t="t" r="r" b="b"/>
              <a:pathLst>
                <a:path w="10730865" h="4674362">
                  <a:moveTo>
                    <a:pt x="0" y="184150"/>
                  </a:moveTo>
                  <a:cubicBezTo>
                    <a:pt x="0" y="82296"/>
                    <a:pt x="83058" y="0"/>
                    <a:pt x="185166" y="0"/>
                  </a:cubicBezTo>
                  <a:lnTo>
                    <a:pt x="10545699" y="0"/>
                  </a:lnTo>
                  <a:lnTo>
                    <a:pt x="10545699" y="25400"/>
                  </a:lnTo>
                  <a:lnTo>
                    <a:pt x="10545699" y="0"/>
                  </a:lnTo>
                  <a:cubicBezTo>
                    <a:pt x="10647807" y="0"/>
                    <a:pt x="10730865" y="82296"/>
                    <a:pt x="10730865" y="184150"/>
                  </a:cubicBezTo>
                  <a:lnTo>
                    <a:pt x="10705465" y="184150"/>
                  </a:lnTo>
                  <a:lnTo>
                    <a:pt x="10730865" y="184150"/>
                  </a:lnTo>
                  <a:lnTo>
                    <a:pt x="10730865" y="4490212"/>
                  </a:lnTo>
                  <a:lnTo>
                    <a:pt x="10705465" y="4490212"/>
                  </a:lnTo>
                  <a:lnTo>
                    <a:pt x="10730865" y="4490212"/>
                  </a:lnTo>
                  <a:cubicBezTo>
                    <a:pt x="10730865" y="4592066"/>
                    <a:pt x="10647807" y="4674362"/>
                    <a:pt x="10545699" y="4674362"/>
                  </a:cubicBezTo>
                  <a:lnTo>
                    <a:pt x="10545699" y="4648962"/>
                  </a:lnTo>
                  <a:lnTo>
                    <a:pt x="10545699" y="4674362"/>
                  </a:lnTo>
                  <a:lnTo>
                    <a:pt x="185166" y="4674362"/>
                  </a:lnTo>
                  <a:lnTo>
                    <a:pt x="185166" y="4648962"/>
                  </a:lnTo>
                  <a:lnTo>
                    <a:pt x="185166" y="4674362"/>
                  </a:lnTo>
                  <a:cubicBezTo>
                    <a:pt x="83058" y="4674362"/>
                    <a:pt x="0" y="4592066"/>
                    <a:pt x="0" y="4490212"/>
                  </a:cubicBezTo>
                  <a:lnTo>
                    <a:pt x="0" y="184150"/>
                  </a:lnTo>
                  <a:lnTo>
                    <a:pt x="25400" y="184150"/>
                  </a:lnTo>
                  <a:lnTo>
                    <a:pt x="0" y="184150"/>
                  </a:lnTo>
                  <a:moveTo>
                    <a:pt x="50800" y="184150"/>
                  </a:moveTo>
                  <a:lnTo>
                    <a:pt x="50800" y="4490212"/>
                  </a:lnTo>
                  <a:lnTo>
                    <a:pt x="25400" y="4490212"/>
                  </a:lnTo>
                  <a:lnTo>
                    <a:pt x="50800" y="4490212"/>
                  </a:lnTo>
                  <a:cubicBezTo>
                    <a:pt x="50800" y="4563745"/>
                    <a:pt x="110744" y="4623562"/>
                    <a:pt x="185166" y="4623562"/>
                  </a:cubicBezTo>
                  <a:lnTo>
                    <a:pt x="10545699" y="4623562"/>
                  </a:lnTo>
                  <a:cubicBezTo>
                    <a:pt x="10619994" y="4623562"/>
                    <a:pt x="10680065" y="4563745"/>
                    <a:pt x="10680065" y="4490212"/>
                  </a:cubicBezTo>
                  <a:lnTo>
                    <a:pt x="10680065" y="184150"/>
                  </a:lnTo>
                  <a:cubicBezTo>
                    <a:pt x="10680065" y="110617"/>
                    <a:pt x="10620121" y="50800"/>
                    <a:pt x="10545699" y="50800"/>
                  </a:cubicBezTo>
                  <a:lnTo>
                    <a:pt x="185166" y="50800"/>
                  </a:lnTo>
                  <a:lnTo>
                    <a:pt x="185166" y="25400"/>
                  </a:lnTo>
                  <a:lnTo>
                    <a:pt x="185166" y="50800"/>
                  </a:lnTo>
                  <a:cubicBezTo>
                    <a:pt x="110744" y="50800"/>
                    <a:pt x="50800" y="110617"/>
                    <a:pt x="50800" y="184150"/>
                  </a:cubicBezTo>
                  <a:close/>
                </a:path>
              </a:pathLst>
            </a:custGeom>
            <a:solidFill>
              <a:srgbClr val="C7C7D0"/>
            </a:solidFill>
          </p:spPr>
        </p:sp>
      </p:grpSp>
      <p:grpSp>
        <p:nvGrpSpPr>
          <p:cNvPr id="18" name="Group 18"/>
          <p:cNvGrpSpPr/>
          <p:nvPr/>
        </p:nvGrpSpPr>
        <p:grpSpPr>
          <a:xfrm>
            <a:off x="9323784" y="2298649"/>
            <a:ext cx="7933877" cy="850554"/>
            <a:chOff x="0" y="0"/>
            <a:chExt cx="10578503" cy="1134072"/>
          </a:xfrm>
        </p:grpSpPr>
        <p:sp>
          <p:nvSpPr>
            <p:cNvPr id="19" name="Freeform 19"/>
            <p:cNvSpPr/>
            <p:nvPr/>
          </p:nvSpPr>
          <p:spPr>
            <a:xfrm>
              <a:off x="0" y="0"/>
              <a:ext cx="10578465" cy="1133983"/>
            </a:xfrm>
            <a:custGeom>
              <a:avLst/>
              <a:gdLst/>
              <a:ahLst/>
              <a:cxnLst/>
              <a:rect l="l" t="t" r="r" b="b"/>
              <a:pathLst>
                <a:path w="10578465" h="1133983">
                  <a:moveTo>
                    <a:pt x="0" y="97790"/>
                  </a:moveTo>
                  <a:cubicBezTo>
                    <a:pt x="0" y="43815"/>
                    <a:pt x="43815" y="0"/>
                    <a:pt x="97790" y="0"/>
                  </a:cubicBezTo>
                  <a:lnTo>
                    <a:pt x="10480675" y="0"/>
                  </a:lnTo>
                  <a:cubicBezTo>
                    <a:pt x="10534650" y="0"/>
                    <a:pt x="10578465" y="43815"/>
                    <a:pt x="10578465" y="97790"/>
                  </a:cubicBezTo>
                  <a:lnTo>
                    <a:pt x="10578465" y="1036193"/>
                  </a:lnTo>
                  <a:cubicBezTo>
                    <a:pt x="10578465" y="1090168"/>
                    <a:pt x="10534650" y="1133983"/>
                    <a:pt x="10480675" y="1133983"/>
                  </a:cubicBezTo>
                  <a:lnTo>
                    <a:pt x="97790" y="1133983"/>
                  </a:lnTo>
                  <a:cubicBezTo>
                    <a:pt x="43815" y="1133983"/>
                    <a:pt x="0" y="1090168"/>
                    <a:pt x="0" y="1036193"/>
                  </a:cubicBezTo>
                  <a:close/>
                </a:path>
              </a:pathLst>
            </a:custGeom>
            <a:solidFill>
              <a:srgbClr val="E1E1EA"/>
            </a:solidFill>
          </p:spPr>
        </p:sp>
      </p:grpSp>
      <p:sp>
        <p:nvSpPr>
          <p:cNvPr id="20" name="TextBox 20"/>
          <p:cNvSpPr txBox="1"/>
          <p:nvPr/>
        </p:nvSpPr>
        <p:spPr>
          <a:xfrm>
            <a:off x="13078120" y="2500903"/>
            <a:ext cx="425206" cy="483984"/>
          </a:xfrm>
          <a:prstGeom prst="rect">
            <a:avLst/>
          </a:prstGeom>
        </p:spPr>
        <p:txBody>
          <a:bodyPr lIns="0" tIns="0" rIns="0" bIns="0" rtlCol="0" anchor="t">
            <a:spAutoFit/>
          </a:bodyPr>
          <a:lstStyle/>
          <a:p>
            <a:pPr algn="l">
              <a:lnSpc>
                <a:spcPts val="3312"/>
              </a:lnSpc>
            </a:pPr>
            <a:r>
              <a:rPr lang="en-US" sz="3312">
                <a:solidFill>
                  <a:srgbClr val="3C3939"/>
                </a:solidFill>
                <a:latin typeface="Raleway"/>
                <a:ea typeface="Raleway"/>
                <a:cs typeface="Raleway"/>
                <a:sym typeface="Raleway"/>
              </a:rPr>
              <a:t>2</a:t>
            </a:r>
          </a:p>
        </p:txBody>
      </p:sp>
      <p:sp>
        <p:nvSpPr>
          <p:cNvPr id="21" name="TextBox 21"/>
          <p:cNvSpPr txBox="1"/>
          <p:nvPr/>
        </p:nvSpPr>
        <p:spPr>
          <a:xfrm>
            <a:off x="9607306" y="3404149"/>
            <a:ext cx="3544043" cy="471487"/>
          </a:xfrm>
          <a:prstGeom prst="rect">
            <a:avLst/>
          </a:prstGeom>
        </p:spPr>
        <p:txBody>
          <a:bodyPr lIns="0" tIns="0" rIns="0" bIns="0" rtlCol="0" anchor="t">
            <a:spAutoFit/>
          </a:bodyPr>
          <a:lstStyle/>
          <a:p>
            <a:pPr algn="l">
              <a:lnSpc>
                <a:spcPts val="3437"/>
              </a:lnSpc>
            </a:pPr>
            <a:r>
              <a:rPr lang="en-US" sz="2750">
                <a:solidFill>
                  <a:srgbClr val="3C3939"/>
                </a:solidFill>
                <a:latin typeface="Raleway"/>
                <a:ea typeface="Raleway"/>
                <a:cs typeface="Raleway"/>
                <a:sym typeface="Raleway"/>
              </a:rPr>
              <a:t>Transactions Table</a:t>
            </a:r>
          </a:p>
        </p:txBody>
      </p:sp>
      <p:sp>
        <p:nvSpPr>
          <p:cNvPr id="22" name="TextBox 22"/>
          <p:cNvSpPr txBox="1"/>
          <p:nvPr/>
        </p:nvSpPr>
        <p:spPr>
          <a:xfrm>
            <a:off x="9607306" y="3950494"/>
            <a:ext cx="7366845" cy="1456134"/>
          </a:xfrm>
          <a:prstGeom prst="rect">
            <a:avLst/>
          </a:prstGeom>
        </p:spPr>
        <p:txBody>
          <a:bodyPr lIns="0" tIns="0" rIns="0" bIns="0" rtlCol="0" anchor="t">
            <a:spAutoFit/>
          </a:bodyPr>
          <a:lstStyle/>
          <a:p>
            <a:pPr algn="l">
              <a:lnSpc>
                <a:spcPts val="3562"/>
              </a:lnSpc>
            </a:pPr>
            <a:r>
              <a:rPr lang="en-US" sz="2187">
                <a:solidFill>
                  <a:srgbClr val="3C3939"/>
                </a:solidFill>
                <a:latin typeface="Roboto"/>
                <a:ea typeface="Roboto"/>
                <a:cs typeface="Roboto"/>
                <a:sym typeface="Roboto"/>
              </a:rPr>
              <a:t>Tracks income and expenses with foreign key relationship to Users table, maintaining data integrity through referential constraints.</a:t>
            </a:r>
          </a:p>
        </p:txBody>
      </p:sp>
      <p:grpSp>
        <p:nvGrpSpPr>
          <p:cNvPr id="23" name="Group 23"/>
          <p:cNvGrpSpPr/>
          <p:nvPr/>
        </p:nvGrpSpPr>
        <p:grpSpPr>
          <a:xfrm>
            <a:off x="973188" y="5992711"/>
            <a:ext cx="8048034" cy="3505791"/>
            <a:chOff x="0" y="0"/>
            <a:chExt cx="10730713" cy="4674387"/>
          </a:xfrm>
        </p:grpSpPr>
        <p:sp>
          <p:nvSpPr>
            <p:cNvPr id="24" name="Freeform 24"/>
            <p:cNvSpPr/>
            <p:nvPr/>
          </p:nvSpPr>
          <p:spPr>
            <a:xfrm>
              <a:off x="25400" y="25400"/>
              <a:ext cx="10679938" cy="4623562"/>
            </a:xfrm>
            <a:custGeom>
              <a:avLst/>
              <a:gdLst/>
              <a:ahLst/>
              <a:cxnLst/>
              <a:rect l="l" t="t" r="r" b="b"/>
              <a:pathLst>
                <a:path w="10679938" h="4623562">
                  <a:moveTo>
                    <a:pt x="0" y="158750"/>
                  </a:moveTo>
                  <a:cubicBezTo>
                    <a:pt x="0" y="71120"/>
                    <a:pt x="71501" y="0"/>
                    <a:pt x="159766" y="0"/>
                  </a:cubicBezTo>
                  <a:lnTo>
                    <a:pt x="10520172" y="0"/>
                  </a:lnTo>
                  <a:cubicBezTo>
                    <a:pt x="10608437" y="0"/>
                    <a:pt x="10679938" y="71120"/>
                    <a:pt x="10679938" y="158750"/>
                  </a:cubicBezTo>
                  <a:lnTo>
                    <a:pt x="10679938" y="4464812"/>
                  </a:lnTo>
                  <a:cubicBezTo>
                    <a:pt x="10679938" y="4552442"/>
                    <a:pt x="10608437" y="4623562"/>
                    <a:pt x="10520172" y="4623562"/>
                  </a:cubicBezTo>
                  <a:lnTo>
                    <a:pt x="159766" y="4623562"/>
                  </a:lnTo>
                  <a:cubicBezTo>
                    <a:pt x="71501" y="4623562"/>
                    <a:pt x="0" y="4552442"/>
                    <a:pt x="0" y="4464812"/>
                  </a:cubicBezTo>
                  <a:close/>
                </a:path>
              </a:pathLst>
            </a:custGeom>
            <a:solidFill>
              <a:srgbClr val="FFFFFF">
                <a:alpha val="90196"/>
              </a:srgbClr>
            </a:solidFill>
          </p:spPr>
        </p:sp>
        <p:sp>
          <p:nvSpPr>
            <p:cNvPr id="25" name="Freeform 25"/>
            <p:cNvSpPr/>
            <p:nvPr/>
          </p:nvSpPr>
          <p:spPr>
            <a:xfrm>
              <a:off x="0" y="0"/>
              <a:ext cx="10730738" cy="4674362"/>
            </a:xfrm>
            <a:custGeom>
              <a:avLst/>
              <a:gdLst/>
              <a:ahLst/>
              <a:cxnLst/>
              <a:rect l="l" t="t" r="r" b="b"/>
              <a:pathLst>
                <a:path w="10730738" h="4674362">
                  <a:moveTo>
                    <a:pt x="0" y="184150"/>
                  </a:moveTo>
                  <a:cubicBezTo>
                    <a:pt x="0" y="82296"/>
                    <a:pt x="83058" y="0"/>
                    <a:pt x="185166" y="0"/>
                  </a:cubicBezTo>
                  <a:lnTo>
                    <a:pt x="10545572" y="0"/>
                  </a:lnTo>
                  <a:lnTo>
                    <a:pt x="10545572" y="25400"/>
                  </a:lnTo>
                  <a:lnTo>
                    <a:pt x="10545572" y="0"/>
                  </a:lnTo>
                  <a:cubicBezTo>
                    <a:pt x="10647680" y="0"/>
                    <a:pt x="10730738" y="82296"/>
                    <a:pt x="10730738" y="184150"/>
                  </a:cubicBezTo>
                  <a:lnTo>
                    <a:pt x="10705338" y="184150"/>
                  </a:lnTo>
                  <a:lnTo>
                    <a:pt x="10730738" y="184150"/>
                  </a:lnTo>
                  <a:lnTo>
                    <a:pt x="10730738" y="4490212"/>
                  </a:lnTo>
                  <a:lnTo>
                    <a:pt x="10705338" y="4490212"/>
                  </a:lnTo>
                  <a:lnTo>
                    <a:pt x="10730738" y="4490212"/>
                  </a:lnTo>
                  <a:cubicBezTo>
                    <a:pt x="10730738" y="4592066"/>
                    <a:pt x="10647680" y="4674362"/>
                    <a:pt x="10545572" y="4674362"/>
                  </a:cubicBezTo>
                  <a:lnTo>
                    <a:pt x="10545572" y="4648962"/>
                  </a:lnTo>
                  <a:lnTo>
                    <a:pt x="10545572" y="4674362"/>
                  </a:lnTo>
                  <a:lnTo>
                    <a:pt x="185166" y="4674362"/>
                  </a:lnTo>
                  <a:lnTo>
                    <a:pt x="185166" y="4648962"/>
                  </a:lnTo>
                  <a:lnTo>
                    <a:pt x="185166" y="4674362"/>
                  </a:lnTo>
                  <a:cubicBezTo>
                    <a:pt x="83058" y="4674362"/>
                    <a:pt x="0" y="4592066"/>
                    <a:pt x="0" y="4490212"/>
                  </a:cubicBezTo>
                  <a:lnTo>
                    <a:pt x="0" y="184150"/>
                  </a:lnTo>
                  <a:lnTo>
                    <a:pt x="25400" y="184150"/>
                  </a:lnTo>
                  <a:lnTo>
                    <a:pt x="0" y="184150"/>
                  </a:lnTo>
                  <a:moveTo>
                    <a:pt x="50800" y="184150"/>
                  </a:moveTo>
                  <a:lnTo>
                    <a:pt x="50800" y="4490212"/>
                  </a:lnTo>
                  <a:lnTo>
                    <a:pt x="25400" y="4490212"/>
                  </a:lnTo>
                  <a:lnTo>
                    <a:pt x="50800" y="4490212"/>
                  </a:lnTo>
                  <a:cubicBezTo>
                    <a:pt x="50800" y="4563745"/>
                    <a:pt x="110744" y="4623562"/>
                    <a:pt x="185166" y="4623562"/>
                  </a:cubicBezTo>
                  <a:lnTo>
                    <a:pt x="10545572" y="4623562"/>
                  </a:lnTo>
                  <a:cubicBezTo>
                    <a:pt x="10619867" y="4623562"/>
                    <a:pt x="10679938" y="4563745"/>
                    <a:pt x="10679938" y="4490212"/>
                  </a:cubicBezTo>
                  <a:lnTo>
                    <a:pt x="10679938" y="184150"/>
                  </a:lnTo>
                  <a:cubicBezTo>
                    <a:pt x="10679938" y="110617"/>
                    <a:pt x="10619994" y="50800"/>
                    <a:pt x="10545572" y="50800"/>
                  </a:cubicBezTo>
                  <a:lnTo>
                    <a:pt x="185166" y="50800"/>
                  </a:lnTo>
                  <a:lnTo>
                    <a:pt x="185166" y="25400"/>
                  </a:lnTo>
                  <a:lnTo>
                    <a:pt x="185166" y="50800"/>
                  </a:lnTo>
                  <a:cubicBezTo>
                    <a:pt x="110744" y="50800"/>
                    <a:pt x="50800" y="110617"/>
                    <a:pt x="50800" y="184150"/>
                  </a:cubicBezTo>
                  <a:close/>
                </a:path>
              </a:pathLst>
            </a:custGeom>
            <a:solidFill>
              <a:srgbClr val="C7C7D0"/>
            </a:solidFill>
          </p:spPr>
        </p:sp>
      </p:grpSp>
      <p:grpSp>
        <p:nvGrpSpPr>
          <p:cNvPr id="26" name="Group 26"/>
          <p:cNvGrpSpPr/>
          <p:nvPr/>
        </p:nvGrpSpPr>
        <p:grpSpPr>
          <a:xfrm>
            <a:off x="1030338" y="6049861"/>
            <a:ext cx="7933734" cy="850554"/>
            <a:chOff x="0" y="0"/>
            <a:chExt cx="10578313" cy="1134072"/>
          </a:xfrm>
        </p:grpSpPr>
        <p:sp>
          <p:nvSpPr>
            <p:cNvPr id="27" name="Freeform 27"/>
            <p:cNvSpPr/>
            <p:nvPr/>
          </p:nvSpPr>
          <p:spPr>
            <a:xfrm>
              <a:off x="0" y="0"/>
              <a:ext cx="10578211" cy="1133983"/>
            </a:xfrm>
            <a:custGeom>
              <a:avLst/>
              <a:gdLst/>
              <a:ahLst/>
              <a:cxnLst/>
              <a:rect l="l" t="t" r="r" b="b"/>
              <a:pathLst>
                <a:path w="10578211" h="1133983">
                  <a:moveTo>
                    <a:pt x="0" y="97790"/>
                  </a:moveTo>
                  <a:cubicBezTo>
                    <a:pt x="0" y="43815"/>
                    <a:pt x="43815" y="0"/>
                    <a:pt x="97790" y="0"/>
                  </a:cubicBezTo>
                  <a:lnTo>
                    <a:pt x="10480421" y="0"/>
                  </a:lnTo>
                  <a:cubicBezTo>
                    <a:pt x="10534396" y="0"/>
                    <a:pt x="10578211" y="43815"/>
                    <a:pt x="10578211" y="97790"/>
                  </a:cubicBezTo>
                  <a:lnTo>
                    <a:pt x="10578211" y="1036193"/>
                  </a:lnTo>
                  <a:cubicBezTo>
                    <a:pt x="10578211" y="1090168"/>
                    <a:pt x="10534396" y="1133983"/>
                    <a:pt x="10480421" y="1133983"/>
                  </a:cubicBezTo>
                  <a:lnTo>
                    <a:pt x="97790" y="1133983"/>
                  </a:lnTo>
                  <a:cubicBezTo>
                    <a:pt x="43815" y="1133983"/>
                    <a:pt x="0" y="1090168"/>
                    <a:pt x="0" y="1036193"/>
                  </a:cubicBezTo>
                  <a:close/>
                </a:path>
              </a:pathLst>
            </a:custGeom>
            <a:solidFill>
              <a:srgbClr val="E1E1EA"/>
            </a:solidFill>
          </p:spPr>
        </p:sp>
      </p:grpSp>
      <p:sp>
        <p:nvSpPr>
          <p:cNvPr id="28" name="TextBox 28"/>
          <p:cNvSpPr txBox="1"/>
          <p:nvPr/>
        </p:nvSpPr>
        <p:spPr>
          <a:xfrm>
            <a:off x="4784522" y="6252124"/>
            <a:ext cx="425206" cy="483984"/>
          </a:xfrm>
          <a:prstGeom prst="rect">
            <a:avLst/>
          </a:prstGeom>
        </p:spPr>
        <p:txBody>
          <a:bodyPr lIns="0" tIns="0" rIns="0" bIns="0" rtlCol="0" anchor="t">
            <a:spAutoFit/>
          </a:bodyPr>
          <a:lstStyle/>
          <a:p>
            <a:pPr algn="l">
              <a:lnSpc>
                <a:spcPts val="3312"/>
              </a:lnSpc>
            </a:pPr>
            <a:r>
              <a:rPr lang="en-US" sz="3312">
                <a:solidFill>
                  <a:srgbClr val="3C3939"/>
                </a:solidFill>
                <a:latin typeface="Raleway"/>
                <a:ea typeface="Raleway"/>
                <a:cs typeface="Raleway"/>
                <a:sym typeface="Raleway"/>
              </a:rPr>
              <a:t>3</a:t>
            </a:r>
          </a:p>
        </p:txBody>
      </p:sp>
      <p:sp>
        <p:nvSpPr>
          <p:cNvPr id="29" name="TextBox 29"/>
          <p:cNvSpPr txBox="1"/>
          <p:nvPr/>
        </p:nvSpPr>
        <p:spPr>
          <a:xfrm>
            <a:off x="1313859" y="7155361"/>
            <a:ext cx="3544043" cy="471487"/>
          </a:xfrm>
          <a:prstGeom prst="rect">
            <a:avLst/>
          </a:prstGeom>
        </p:spPr>
        <p:txBody>
          <a:bodyPr lIns="0" tIns="0" rIns="0" bIns="0" rtlCol="0" anchor="t">
            <a:spAutoFit/>
          </a:bodyPr>
          <a:lstStyle/>
          <a:p>
            <a:pPr algn="l">
              <a:lnSpc>
                <a:spcPts val="3437"/>
              </a:lnSpc>
            </a:pPr>
            <a:r>
              <a:rPr lang="en-US" sz="2750">
                <a:solidFill>
                  <a:srgbClr val="3C3939"/>
                </a:solidFill>
                <a:latin typeface="Raleway"/>
                <a:ea typeface="Raleway"/>
                <a:cs typeface="Raleway"/>
                <a:sym typeface="Raleway"/>
              </a:rPr>
              <a:t>JWT Authentication</a:t>
            </a:r>
          </a:p>
        </p:txBody>
      </p:sp>
      <p:sp>
        <p:nvSpPr>
          <p:cNvPr id="30" name="TextBox 30"/>
          <p:cNvSpPr txBox="1"/>
          <p:nvPr/>
        </p:nvSpPr>
        <p:spPr>
          <a:xfrm>
            <a:off x="1313859" y="7701705"/>
            <a:ext cx="7366692" cy="1456134"/>
          </a:xfrm>
          <a:prstGeom prst="rect">
            <a:avLst/>
          </a:prstGeom>
        </p:spPr>
        <p:txBody>
          <a:bodyPr lIns="0" tIns="0" rIns="0" bIns="0" rtlCol="0" anchor="t">
            <a:spAutoFit/>
          </a:bodyPr>
          <a:lstStyle/>
          <a:p>
            <a:pPr algn="l">
              <a:lnSpc>
                <a:spcPts val="3562"/>
              </a:lnSpc>
            </a:pPr>
            <a:r>
              <a:rPr lang="en-US" sz="2187">
                <a:solidFill>
                  <a:srgbClr val="3C3939"/>
                </a:solidFill>
                <a:latin typeface="Roboto"/>
                <a:ea typeface="Roboto"/>
                <a:cs typeface="Roboto"/>
                <a:sym typeface="Roboto"/>
              </a:rPr>
              <a:t>Stateless token-based authentication provides session management without server-side state, enhancing scalability and security.</a:t>
            </a:r>
          </a:p>
        </p:txBody>
      </p:sp>
      <p:grpSp>
        <p:nvGrpSpPr>
          <p:cNvPr id="31" name="Group 31"/>
          <p:cNvGrpSpPr/>
          <p:nvPr/>
        </p:nvGrpSpPr>
        <p:grpSpPr>
          <a:xfrm>
            <a:off x="9266634" y="5992711"/>
            <a:ext cx="8048177" cy="3505791"/>
            <a:chOff x="0" y="0"/>
            <a:chExt cx="10730903" cy="4674387"/>
          </a:xfrm>
        </p:grpSpPr>
        <p:sp>
          <p:nvSpPr>
            <p:cNvPr id="32" name="Freeform 32"/>
            <p:cNvSpPr/>
            <p:nvPr/>
          </p:nvSpPr>
          <p:spPr>
            <a:xfrm>
              <a:off x="25400" y="25400"/>
              <a:ext cx="10680065" cy="4623562"/>
            </a:xfrm>
            <a:custGeom>
              <a:avLst/>
              <a:gdLst/>
              <a:ahLst/>
              <a:cxnLst/>
              <a:rect l="l" t="t" r="r" b="b"/>
              <a:pathLst>
                <a:path w="10680065" h="4623562">
                  <a:moveTo>
                    <a:pt x="0" y="158750"/>
                  </a:moveTo>
                  <a:cubicBezTo>
                    <a:pt x="0" y="71120"/>
                    <a:pt x="71501" y="0"/>
                    <a:pt x="159766" y="0"/>
                  </a:cubicBezTo>
                  <a:lnTo>
                    <a:pt x="10520299" y="0"/>
                  </a:lnTo>
                  <a:cubicBezTo>
                    <a:pt x="10608564" y="0"/>
                    <a:pt x="10680065" y="71120"/>
                    <a:pt x="10680065" y="158750"/>
                  </a:cubicBezTo>
                  <a:lnTo>
                    <a:pt x="10680065" y="4464812"/>
                  </a:lnTo>
                  <a:cubicBezTo>
                    <a:pt x="10680065" y="4552442"/>
                    <a:pt x="10608564" y="4623562"/>
                    <a:pt x="10520299" y="4623562"/>
                  </a:cubicBezTo>
                  <a:lnTo>
                    <a:pt x="159766" y="4623562"/>
                  </a:lnTo>
                  <a:cubicBezTo>
                    <a:pt x="71501" y="4623562"/>
                    <a:pt x="0" y="4552442"/>
                    <a:pt x="0" y="4464812"/>
                  </a:cubicBezTo>
                  <a:close/>
                </a:path>
              </a:pathLst>
            </a:custGeom>
            <a:solidFill>
              <a:srgbClr val="FFFFFF">
                <a:alpha val="90196"/>
              </a:srgbClr>
            </a:solidFill>
          </p:spPr>
        </p:sp>
        <p:sp>
          <p:nvSpPr>
            <p:cNvPr id="33" name="Freeform 33"/>
            <p:cNvSpPr/>
            <p:nvPr/>
          </p:nvSpPr>
          <p:spPr>
            <a:xfrm>
              <a:off x="0" y="0"/>
              <a:ext cx="10730865" cy="4674362"/>
            </a:xfrm>
            <a:custGeom>
              <a:avLst/>
              <a:gdLst/>
              <a:ahLst/>
              <a:cxnLst/>
              <a:rect l="l" t="t" r="r" b="b"/>
              <a:pathLst>
                <a:path w="10730865" h="4674362">
                  <a:moveTo>
                    <a:pt x="0" y="184150"/>
                  </a:moveTo>
                  <a:cubicBezTo>
                    <a:pt x="0" y="82296"/>
                    <a:pt x="83058" y="0"/>
                    <a:pt x="185166" y="0"/>
                  </a:cubicBezTo>
                  <a:lnTo>
                    <a:pt x="10545699" y="0"/>
                  </a:lnTo>
                  <a:lnTo>
                    <a:pt x="10545699" y="25400"/>
                  </a:lnTo>
                  <a:lnTo>
                    <a:pt x="10545699" y="0"/>
                  </a:lnTo>
                  <a:cubicBezTo>
                    <a:pt x="10647807" y="0"/>
                    <a:pt x="10730865" y="82296"/>
                    <a:pt x="10730865" y="184150"/>
                  </a:cubicBezTo>
                  <a:lnTo>
                    <a:pt x="10705465" y="184150"/>
                  </a:lnTo>
                  <a:lnTo>
                    <a:pt x="10730865" y="184150"/>
                  </a:lnTo>
                  <a:lnTo>
                    <a:pt x="10730865" y="4490212"/>
                  </a:lnTo>
                  <a:lnTo>
                    <a:pt x="10705465" y="4490212"/>
                  </a:lnTo>
                  <a:lnTo>
                    <a:pt x="10730865" y="4490212"/>
                  </a:lnTo>
                  <a:cubicBezTo>
                    <a:pt x="10730865" y="4592066"/>
                    <a:pt x="10647807" y="4674362"/>
                    <a:pt x="10545699" y="4674362"/>
                  </a:cubicBezTo>
                  <a:lnTo>
                    <a:pt x="10545699" y="4648962"/>
                  </a:lnTo>
                  <a:lnTo>
                    <a:pt x="10545699" y="4674362"/>
                  </a:lnTo>
                  <a:lnTo>
                    <a:pt x="185166" y="4674362"/>
                  </a:lnTo>
                  <a:lnTo>
                    <a:pt x="185166" y="4648962"/>
                  </a:lnTo>
                  <a:lnTo>
                    <a:pt x="185166" y="4674362"/>
                  </a:lnTo>
                  <a:cubicBezTo>
                    <a:pt x="83058" y="4674362"/>
                    <a:pt x="0" y="4592066"/>
                    <a:pt x="0" y="4490212"/>
                  </a:cubicBezTo>
                  <a:lnTo>
                    <a:pt x="0" y="184150"/>
                  </a:lnTo>
                  <a:lnTo>
                    <a:pt x="25400" y="184150"/>
                  </a:lnTo>
                  <a:lnTo>
                    <a:pt x="0" y="184150"/>
                  </a:lnTo>
                  <a:moveTo>
                    <a:pt x="50800" y="184150"/>
                  </a:moveTo>
                  <a:lnTo>
                    <a:pt x="50800" y="4490212"/>
                  </a:lnTo>
                  <a:lnTo>
                    <a:pt x="25400" y="4490212"/>
                  </a:lnTo>
                  <a:lnTo>
                    <a:pt x="50800" y="4490212"/>
                  </a:lnTo>
                  <a:cubicBezTo>
                    <a:pt x="50800" y="4563745"/>
                    <a:pt x="110744" y="4623562"/>
                    <a:pt x="185166" y="4623562"/>
                  </a:cubicBezTo>
                  <a:lnTo>
                    <a:pt x="10545699" y="4623562"/>
                  </a:lnTo>
                  <a:cubicBezTo>
                    <a:pt x="10619994" y="4623562"/>
                    <a:pt x="10680065" y="4563745"/>
                    <a:pt x="10680065" y="4490212"/>
                  </a:cubicBezTo>
                  <a:lnTo>
                    <a:pt x="10680065" y="184150"/>
                  </a:lnTo>
                  <a:cubicBezTo>
                    <a:pt x="10680065" y="110617"/>
                    <a:pt x="10620121" y="50800"/>
                    <a:pt x="10545699" y="50800"/>
                  </a:cubicBezTo>
                  <a:lnTo>
                    <a:pt x="185166" y="50800"/>
                  </a:lnTo>
                  <a:lnTo>
                    <a:pt x="185166" y="25400"/>
                  </a:lnTo>
                  <a:lnTo>
                    <a:pt x="185166" y="50800"/>
                  </a:lnTo>
                  <a:cubicBezTo>
                    <a:pt x="110744" y="50800"/>
                    <a:pt x="50800" y="110617"/>
                    <a:pt x="50800" y="184150"/>
                  </a:cubicBezTo>
                  <a:close/>
                </a:path>
              </a:pathLst>
            </a:custGeom>
            <a:solidFill>
              <a:srgbClr val="C7C7D0"/>
            </a:solidFill>
          </p:spPr>
        </p:sp>
      </p:grpSp>
      <p:grpSp>
        <p:nvGrpSpPr>
          <p:cNvPr id="34" name="Group 34"/>
          <p:cNvGrpSpPr/>
          <p:nvPr/>
        </p:nvGrpSpPr>
        <p:grpSpPr>
          <a:xfrm>
            <a:off x="9323784" y="6049861"/>
            <a:ext cx="7933877" cy="850554"/>
            <a:chOff x="0" y="0"/>
            <a:chExt cx="10578503" cy="1134072"/>
          </a:xfrm>
        </p:grpSpPr>
        <p:sp>
          <p:nvSpPr>
            <p:cNvPr id="35" name="Freeform 35"/>
            <p:cNvSpPr/>
            <p:nvPr/>
          </p:nvSpPr>
          <p:spPr>
            <a:xfrm>
              <a:off x="0" y="0"/>
              <a:ext cx="10578465" cy="1133983"/>
            </a:xfrm>
            <a:custGeom>
              <a:avLst/>
              <a:gdLst/>
              <a:ahLst/>
              <a:cxnLst/>
              <a:rect l="l" t="t" r="r" b="b"/>
              <a:pathLst>
                <a:path w="10578465" h="1133983">
                  <a:moveTo>
                    <a:pt x="0" y="97790"/>
                  </a:moveTo>
                  <a:cubicBezTo>
                    <a:pt x="0" y="43815"/>
                    <a:pt x="43815" y="0"/>
                    <a:pt x="97790" y="0"/>
                  </a:cubicBezTo>
                  <a:lnTo>
                    <a:pt x="10480675" y="0"/>
                  </a:lnTo>
                  <a:cubicBezTo>
                    <a:pt x="10534650" y="0"/>
                    <a:pt x="10578465" y="43815"/>
                    <a:pt x="10578465" y="97790"/>
                  </a:cubicBezTo>
                  <a:lnTo>
                    <a:pt x="10578465" y="1036193"/>
                  </a:lnTo>
                  <a:cubicBezTo>
                    <a:pt x="10578465" y="1090168"/>
                    <a:pt x="10534650" y="1133983"/>
                    <a:pt x="10480675" y="1133983"/>
                  </a:cubicBezTo>
                  <a:lnTo>
                    <a:pt x="97790" y="1133983"/>
                  </a:lnTo>
                  <a:cubicBezTo>
                    <a:pt x="43815" y="1133983"/>
                    <a:pt x="0" y="1090168"/>
                    <a:pt x="0" y="1036193"/>
                  </a:cubicBezTo>
                  <a:close/>
                </a:path>
              </a:pathLst>
            </a:custGeom>
            <a:solidFill>
              <a:srgbClr val="E1E1EA"/>
            </a:solidFill>
          </p:spPr>
        </p:sp>
      </p:grpSp>
      <p:sp>
        <p:nvSpPr>
          <p:cNvPr id="36" name="TextBox 36"/>
          <p:cNvSpPr txBox="1"/>
          <p:nvPr/>
        </p:nvSpPr>
        <p:spPr>
          <a:xfrm>
            <a:off x="13078120" y="6252124"/>
            <a:ext cx="425206" cy="483984"/>
          </a:xfrm>
          <a:prstGeom prst="rect">
            <a:avLst/>
          </a:prstGeom>
        </p:spPr>
        <p:txBody>
          <a:bodyPr lIns="0" tIns="0" rIns="0" bIns="0" rtlCol="0" anchor="t">
            <a:spAutoFit/>
          </a:bodyPr>
          <a:lstStyle/>
          <a:p>
            <a:pPr algn="l">
              <a:lnSpc>
                <a:spcPts val="3312"/>
              </a:lnSpc>
            </a:pPr>
            <a:r>
              <a:rPr lang="en-US" sz="3312">
                <a:solidFill>
                  <a:srgbClr val="3C3939"/>
                </a:solidFill>
                <a:latin typeface="Raleway"/>
                <a:ea typeface="Raleway"/>
                <a:cs typeface="Raleway"/>
                <a:sym typeface="Raleway"/>
              </a:rPr>
              <a:t>4</a:t>
            </a:r>
          </a:p>
        </p:txBody>
      </p:sp>
      <p:sp>
        <p:nvSpPr>
          <p:cNvPr id="37" name="TextBox 37"/>
          <p:cNvSpPr txBox="1"/>
          <p:nvPr/>
        </p:nvSpPr>
        <p:spPr>
          <a:xfrm>
            <a:off x="9607306" y="7155361"/>
            <a:ext cx="3544043" cy="471487"/>
          </a:xfrm>
          <a:prstGeom prst="rect">
            <a:avLst/>
          </a:prstGeom>
        </p:spPr>
        <p:txBody>
          <a:bodyPr lIns="0" tIns="0" rIns="0" bIns="0" rtlCol="0" anchor="t">
            <a:spAutoFit/>
          </a:bodyPr>
          <a:lstStyle/>
          <a:p>
            <a:pPr algn="l">
              <a:lnSpc>
                <a:spcPts val="3437"/>
              </a:lnSpc>
            </a:pPr>
            <a:r>
              <a:rPr lang="en-US" sz="2750">
                <a:solidFill>
                  <a:srgbClr val="3C3939"/>
                </a:solidFill>
                <a:latin typeface="Raleway"/>
                <a:ea typeface="Raleway"/>
                <a:cs typeface="Raleway"/>
                <a:sym typeface="Raleway"/>
              </a:rPr>
              <a:t>Password Encryption</a:t>
            </a:r>
          </a:p>
        </p:txBody>
      </p:sp>
      <p:sp>
        <p:nvSpPr>
          <p:cNvPr id="38" name="TextBox 38"/>
          <p:cNvSpPr txBox="1"/>
          <p:nvPr/>
        </p:nvSpPr>
        <p:spPr>
          <a:xfrm>
            <a:off x="9607306" y="7701705"/>
            <a:ext cx="7366845" cy="1456134"/>
          </a:xfrm>
          <a:prstGeom prst="rect">
            <a:avLst/>
          </a:prstGeom>
        </p:spPr>
        <p:txBody>
          <a:bodyPr lIns="0" tIns="0" rIns="0" bIns="0" rtlCol="0" anchor="t">
            <a:spAutoFit/>
          </a:bodyPr>
          <a:lstStyle/>
          <a:p>
            <a:pPr algn="l">
              <a:lnSpc>
                <a:spcPts val="3562"/>
              </a:lnSpc>
            </a:pPr>
            <a:r>
              <a:rPr lang="en-US" sz="2187">
                <a:solidFill>
                  <a:srgbClr val="3C3939"/>
                </a:solidFill>
                <a:latin typeface="Roboto"/>
                <a:ea typeface="Roboto"/>
                <a:cs typeface="Roboto"/>
                <a:sym typeface="Roboto"/>
              </a:rPr>
              <a:t>bcryptjs implements salted hashing to protect user passwords, ensuring even database administrators cannot access plain-text credentials.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CECF3"/>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sp>
        <p:nvSpPr>
          <p:cNvPr id="6" name="TextBox 6"/>
          <p:cNvSpPr txBox="1"/>
          <p:nvPr/>
        </p:nvSpPr>
        <p:spPr>
          <a:xfrm>
            <a:off x="930326" y="740121"/>
            <a:ext cx="6645326" cy="868709"/>
          </a:xfrm>
          <a:prstGeom prst="rect">
            <a:avLst/>
          </a:prstGeom>
        </p:spPr>
        <p:txBody>
          <a:bodyPr lIns="0" tIns="0" rIns="0" bIns="0" rtlCol="0" anchor="t">
            <a:spAutoFit/>
          </a:bodyPr>
          <a:lstStyle/>
          <a:p>
            <a:pPr algn="l">
              <a:lnSpc>
                <a:spcPts val="6500"/>
              </a:lnSpc>
            </a:pPr>
            <a:r>
              <a:rPr lang="en-US" sz="5187">
                <a:solidFill>
                  <a:srgbClr val="1B1B27"/>
                </a:solidFill>
                <a:latin typeface="Raleway"/>
                <a:ea typeface="Raleway"/>
                <a:cs typeface="Raleway"/>
                <a:sym typeface="Raleway"/>
              </a:rPr>
              <a:t>Application Flow</a:t>
            </a:r>
          </a:p>
        </p:txBody>
      </p:sp>
      <p:grpSp>
        <p:nvGrpSpPr>
          <p:cNvPr id="7" name="Group 7"/>
          <p:cNvGrpSpPr/>
          <p:nvPr/>
        </p:nvGrpSpPr>
        <p:grpSpPr>
          <a:xfrm>
            <a:off x="1324270" y="2766860"/>
            <a:ext cx="5677881" cy="275330"/>
            <a:chOff x="0" y="0"/>
            <a:chExt cx="7570508" cy="367106"/>
          </a:xfrm>
        </p:grpSpPr>
        <p:sp>
          <p:nvSpPr>
            <p:cNvPr id="8" name="Freeform 8"/>
            <p:cNvSpPr/>
            <p:nvPr/>
          </p:nvSpPr>
          <p:spPr>
            <a:xfrm>
              <a:off x="6350" y="6350"/>
              <a:ext cx="7557770" cy="354330"/>
            </a:xfrm>
            <a:custGeom>
              <a:avLst/>
              <a:gdLst/>
              <a:ahLst/>
              <a:cxnLst/>
              <a:rect l="l" t="t" r="r" b="b"/>
              <a:pathLst>
                <a:path w="7557770" h="354330">
                  <a:moveTo>
                    <a:pt x="0" y="148844"/>
                  </a:moveTo>
                  <a:cubicBezTo>
                    <a:pt x="0" y="66675"/>
                    <a:pt x="68961" y="0"/>
                    <a:pt x="153924" y="0"/>
                  </a:cubicBezTo>
                  <a:lnTo>
                    <a:pt x="7403846" y="0"/>
                  </a:lnTo>
                  <a:cubicBezTo>
                    <a:pt x="7488809" y="0"/>
                    <a:pt x="7557770" y="66675"/>
                    <a:pt x="7557770" y="148844"/>
                  </a:cubicBezTo>
                  <a:lnTo>
                    <a:pt x="7557770" y="205486"/>
                  </a:lnTo>
                  <a:cubicBezTo>
                    <a:pt x="7557770" y="287655"/>
                    <a:pt x="7488809" y="354330"/>
                    <a:pt x="7403846" y="354330"/>
                  </a:cubicBezTo>
                  <a:lnTo>
                    <a:pt x="153924" y="354330"/>
                  </a:lnTo>
                  <a:cubicBezTo>
                    <a:pt x="68961" y="354457"/>
                    <a:pt x="0" y="287782"/>
                    <a:pt x="0" y="205613"/>
                  </a:cubicBezTo>
                  <a:close/>
                </a:path>
              </a:pathLst>
            </a:custGeom>
            <a:solidFill>
              <a:srgbClr val="E1E1EA"/>
            </a:solidFill>
          </p:spPr>
        </p:sp>
        <p:sp>
          <p:nvSpPr>
            <p:cNvPr id="9" name="Freeform 9"/>
            <p:cNvSpPr/>
            <p:nvPr/>
          </p:nvSpPr>
          <p:spPr>
            <a:xfrm>
              <a:off x="0" y="0"/>
              <a:ext cx="7570470" cy="367030"/>
            </a:xfrm>
            <a:custGeom>
              <a:avLst/>
              <a:gdLst/>
              <a:ahLst/>
              <a:cxnLst/>
              <a:rect l="l" t="t" r="r" b="b"/>
              <a:pathLst>
                <a:path w="7570470" h="367030">
                  <a:moveTo>
                    <a:pt x="0" y="155194"/>
                  </a:moveTo>
                  <a:cubicBezTo>
                    <a:pt x="0" y="69342"/>
                    <a:pt x="72009" y="0"/>
                    <a:pt x="160274" y="0"/>
                  </a:cubicBezTo>
                  <a:lnTo>
                    <a:pt x="7410196" y="0"/>
                  </a:lnTo>
                  <a:lnTo>
                    <a:pt x="7410196" y="6350"/>
                  </a:lnTo>
                  <a:lnTo>
                    <a:pt x="7410196" y="0"/>
                  </a:lnTo>
                  <a:cubicBezTo>
                    <a:pt x="7498461" y="0"/>
                    <a:pt x="7570470" y="69342"/>
                    <a:pt x="7570470" y="155194"/>
                  </a:cubicBezTo>
                  <a:lnTo>
                    <a:pt x="7564120" y="155194"/>
                  </a:lnTo>
                  <a:lnTo>
                    <a:pt x="7570470" y="155194"/>
                  </a:lnTo>
                  <a:lnTo>
                    <a:pt x="7570470" y="211836"/>
                  </a:lnTo>
                  <a:lnTo>
                    <a:pt x="7564120" y="211836"/>
                  </a:lnTo>
                  <a:lnTo>
                    <a:pt x="7570470" y="211836"/>
                  </a:lnTo>
                  <a:cubicBezTo>
                    <a:pt x="7570470" y="297815"/>
                    <a:pt x="7498461" y="367030"/>
                    <a:pt x="7410196" y="367030"/>
                  </a:cubicBezTo>
                  <a:lnTo>
                    <a:pt x="7410196" y="360680"/>
                  </a:lnTo>
                  <a:lnTo>
                    <a:pt x="7410196" y="367030"/>
                  </a:lnTo>
                  <a:lnTo>
                    <a:pt x="160274" y="367030"/>
                  </a:lnTo>
                  <a:lnTo>
                    <a:pt x="160274" y="360680"/>
                  </a:lnTo>
                  <a:lnTo>
                    <a:pt x="160274" y="367030"/>
                  </a:lnTo>
                  <a:cubicBezTo>
                    <a:pt x="72009" y="367157"/>
                    <a:pt x="0" y="297815"/>
                    <a:pt x="0" y="211963"/>
                  </a:cubicBezTo>
                  <a:lnTo>
                    <a:pt x="0" y="155194"/>
                  </a:lnTo>
                  <a:lnTo>
                    <a:pt x="6350" y="155194"/>
                  </a:lnTo>
                  <a:lnTo>
                    <a:pt x="0" y="155194"/>
                  </a:lnTo>
                  <a:moveTo>
                    <a:pt x="12700" y="155194"/>
                  </a:moveTo>
                  <a:lnTo>
                    <a:pt x="12700" y="211836"/>
                  </a:lnTo>
                  <a:lnTo>
                    <a:pt x="6350" y="211836"/>
                  </a:lnTo>
                  <a:lnTo>
                    <a:pt x="12700" y="211836"/>
                  </a:lnTo>
                  <a:cubicBezTo>
                    <a:pt x="12700" y="290322"/>
                    <a:pt x="78613" y="354330"/>
                    <a:pt x="160274" y="354330"/>
                  </a:cubicBezTo>
                  <a:lnTo>
                    <a:pt x="7410196" y="354330"/>
                  </a:lnTo>
                  <a:cubicBezTo>
                    <a:pt x="7491857" y="354330"/>
                    <a:pt x="7557770" y="290322"/>
                    <a:pt x="7557770" y="211836"/>
                  </a:cubicBezTo>
                  <a:lnTo>
                    <a:pt x="7557770" y="155194"/>
                  </a:lnTo>
                  <a:cubicBezTo>
                    <a:pt x="7557770" y="76708"/>
                    <a:pt x="7491984" y="12700"/>
                    <a:pt x="7410196" y="12700"/>
                  </a:cubicBezTo>
                  <a:lnTo>
                    <a:pt x="160274" y="12700"/>
                  </a:lnTo>
                  <a:lnTo>
                    <a:pt x="160274" y="6350"/>
                  </a:lnTo>
                  <a:lnTo>
                    <a:pt x="160274" y="12700"/>
                  </a:lnTo>
                  <a:cubicBezTo>
                    <a:pt x="78613" y="12700"/>
                    <a:pt x="12700" y="76708"/>
                    <a:pt x="12700" y="155194"/>
                  </a:cubicBezTo>
                  <a:close/>
                </a:path>
              </a:pathLst>
            </a:custGeom>
            <a:solidFill>
              <a:srgbClr val="C7C7D0"/>
            </a:solidFill>
          </p:spPr>
        </p:sp>
      </p:grpSp>
      <p:grpSp>
        <p:nvGrpSpPr>
          <p:cNvPr id="10" name="Group 10"/>
          <p:cNvGrpSpPr/>
          <p:nvPr/>
        </p:nvGrpSpPr>
        <p:grpSpPr>
          <a:xfrm>
            <a:off x="925563" y="2501055"/>
            <a:ext cx="806948" cy="806948"/>
            <a:chOff x="0" y="0"/>
            <a:chExt cx="1075931" cy="1075931"/>
          </a:xfrm>
        </p:grpSpPr>
        <p:sp>
          <p:nvSpPr>
            <p:cNvPr id="11" name="Freeform 11"/>
            <p:cNvSpPr/>
            <p:nvPr/>
          </p:nvSpPr>
          <p:spPr>
            <a:xfrm>
              <a:off x="6350" y="6350"/>
              <a:ext cx="1063244" cy="1063244"/>
            </a:xfrm>
            <a:custGeom>
              <a:avLst/>
              <a:gdLst/>
              <a:ahLst/>
              <a:cxnLst/>
              <a:rect l="l" t="t" r="r" b="b"/>
              <a:pathLst>
                <a:path w="1063244" h="1063244">
                  <a:moveTo>
                    <a:pt x="0" y="531622"/>
                  </a:moveTo>
                  <a:cubicBezTo>
                    <a:pt x="0" y="237998"/>
                    <a:pt x="237998" y="0"/>
                    <a:pt x="531622" y="0"/>
                  </a:cubicBezTo>
                  <a:cubicBezTo>
                    <a:pt x="825246" y="0"/>
                    <a:pt x="1063244" y="237998"/>
                    <a:pt x="1063244" y="531622"/>
                  </a:cubicBezTo>
                  <a:cubicBezTo>
                    <a:pt x="1063244" y="825246"/>
                    <a:pt x="825246" y="1063244"/>
                    <a:pt x="531622" y="1063244"/>
                  </a:cubicBezTo>
                  <a:cubicBezTo>
                    <a:pt x="237998" y="1063244"/>
                    <a:pt x="0" y="825246"/>
                    <a:pt x="0" y="531622"/>
                  </a:cubicBezTo>
                  <a:close/>
                </a:path>
              </a:pathLst>
            </a:custGeom>
            <a:solidFill>
              <a:srgbClr val="E1E1EA"/>
            </a:solidFill>
          </p:spPr>
        </p:sp>
        <p:sp>
          <p:nvSpPr>
            <p:cNvPr id="12" name="Freeform 12"/>
            <p:cNvSpPr/>
            <p:nvPr/>
          </p:nvSpPr>
          <p:spPr>
            <a:xfrm>
              <a:off x="0" y="0"/>
              <a:ext cx="1075944" cy="1075944"/>
            </a:xfrm>
            <a:custGeom>
              <a:avLst/>
              <a:gdLst/>
              <a:ahLst/>
              <a:cxnLst/>
              <a:rect l="l" t="t" r="r" b="b"/>
              <a:pathLst>
                <a:path w="1075944" h="1075944">
                  <a:moveTo>
                    <a:pt x="0" y="537972"/>
                  </a:moveTo>
                  <a:cubicBezTo>
                    <a:pt x="0" y="240792"/>
                    <a:pt x="240792" y="0"/>
                    <a:pt x="537972" y="0"/>
                  </a:cubicBezTo>
                  <a:cubicBezTo>
                    <a:pt x="539877" y="0"/>
                    <a:pt x="541782" y="889"/>
                    <a:pt x="542925" y="2413"/>
                  </a:cubicBezTo>
                  <a:lnTo>
                    <a:pt x="537972" y="6350"/>
                  </a:lnTo>
                  <a:lnTo>
                    <a:pt x="537972" y="0"/>
                  </a:lnTo>
                  <a:lnTo>
                    <a:pt x="537972" y="6350"/>
                  </a:lnTo>
                  <a:lnTo>
                    <a:pt x="537972" y="0"/>
                  </a:lnTo>
                  <a:cubicBezTo>
                    <a:pt x="835025" y="0"/>
                    <a:pt x="1075944" y="240792"/>
                    <a:pt x="1075944" y="537972"/>
                  </a:cubicBezTo>
                  <a:cubicBezTo>
                    <a:pt x="1075944" y="540385"/>
                    <a:pt x="1074547" y="542544"/>
                    <a:pt x="1072388" y="543687"/>
                  </a:cubicBezTo>
                  <a:lnTo>
                    <a:pt x="1069594" y="537972"/>
                  </a:lnTo>
                  <a:lnTo>
                    <a:pt x="1075944" y="537972"/>
                  </a:lnTo>
                  <a:cubicBezTo>
                    <a:pt x="1075944" y="835025"/>
                    <a:pt x="835152" y="1075944"/>
                    <a:pt x="537972" y="1075944"/>
                  </a:cubicBezTo>
                  <a:lnTo>
                    <a:pt x="537972" y="1069594"/>
                  </a:lnTo>
                  <a:lnTo>
                    <a:pt x="537972" y="1075944"/>
                  </a:lnTo>
                  <a:cubicBezTo>
                    <a:pt x="240792" y="1075944"/>
                    <a:pt x="0" y="835025"/>
                    <a:pt x="0" y="537972"/>
                  </a:cubicBezTo>
                  <a:lnTo>
                    <a:pt x="6350" y="537972"/>
                  </a:lnTo>
                  <a:lnTo>
                    <a:pt x="0" y="537972"/>
                  </a:lnTo>
                  <a:moveTo>
                    <a:pt x="12700" y="537972"/>
                  </a:moveTo>
                  <a:lnTo>
                    <a:pt x="6350" y="537972"/>
                  </a:lnTo>
                  <a:lnTo>
                    <a:pt x="12700" y="537972"/>
                  </a:lnTo>
                  <a:cubicBezTo>
                    <a:pt x="12700" y="828040"/>
                    <a:pt x="247904" y="1063244"/>
                    <a:pt x="537972" y="1063244"/>
                  </a:cubicBezTo>
                  <a:cubicBezTo>
                    <a:pt x="828040" y="1063244"/>
                    <a:pt x="1063244" y="828040"/>
                    <a:pt x="1063244" y="537972"/>
                  </a:cubicBezTo>
                  <a:cubicBezTo>
                    <a:pt x="1063244" y="535559"/>
                    <a:pt x="1064641" y="533400"/>
                    <a:pt x="1066800" y="532257"/>
                  </a:cubicBezTo>
                  <a:lnTo>
                    <a:pt x="1069594" y="537972"/>
                  </a:lnTo>
                  <a:lnTo>
                    <a:pt x="1063244" y="537972"/>
                  </a:lnTo>
                  <a:cubicBezTo>
                    <a:pt x="1063244" y="247904"/>
                    <a:pt x="828040" y="12700"/>
                    <a:pt x="537972" y="12700"/>
                  </a:cubicBezTo>
                  <a:cubicBezTo>
                    <a:pt x="536067" y="12700"/>
                    <a:pt x="534162" y="11811"/>
                    <a:pt x="533019" y="10287"/>
                  </a:cubicBezTo>
                  <a:lnTo>
                    <a:pt x="537972" y="6350"/>
                  </a:lnTo>
                  <a:lnTo>
                    <a:pt x="537972" y="12700"/>
                  </a:lnTo>
                  <a:cubicBezTo>
                    <a:pt x="247904" y="12700"/>
                    <a:pt x="12700" y="247904"/>
                    <a:pt x="12700" y="537972"/>
                  </a:cubicBezTo>
                  <a:close/>
                </a:path>
              </a:pathLst>
            </a:custGeom>
            <a:solidFill>
              <a:srgbClr val="C7C7D0"/>
            </a:solidFill>
          </p:spPr>
        </p:sp>
      </p:grpSp>
      <p:sp>
        <p:nvSpPr>
          <p:cNvPr id="13" name="TextBox 13"/>
          <p:cNvSpPr txBox="1"/>
          <p:nvPr/>
        </p:nvSpPr>
        <p:spPr>
          <a:xfrm>
            <a:off x="1196130" y="3523802"/>
            <a:ext cx="3322587" cy="443951"/>
          </a:xfrm>
          <a:prstGeom prst="rect">
            <a:avLst/>
          </a:prstGeom>
        </p:spPr>
        <p:txBody>
          <a:bodyPr lIns="0" tIns="0" rIns="0" bIns="0" rtlCol="0" anchor="t">
            <a:spAutoFit/>
          </a:bodyPr>
          <a:lstStyle/>
          <a:p>
            <a:pPr algn="l">
              <a:lnSpc>
                <a:spcPts val="3250"/>
              </a:lnSpc>
            </a:pPr>
            <a:r>
              <a:rPr lang="en-US" sz="2562">
                <a:solidFill>
                  <a:srgbClr val="3C3939"/>
                </a:solidFill>
                <a:latin typeface="Raleway"/>
                <a:ea typeface="Raleway"/>
                <a:cs typeface="Raleway"/>
                <a:sym typeface="Raleway"/>
              </a:rPr>
              <a:t>Login Page</a:t>
            </a:r>
          </a:p>
        </p:txBody>
      </p:sp>
      <p:sp>
        <p:nvSpPr>
          <p:cNvPr id="14" name="TextBox 14"/>
          <p:cNvSpPr txBox="1"/>
          <p:nvPr/>
        </p:nvSpPr>
        <p:spPr>
          <a:xfrm>
            <a:off x="1196130" y="4050506"/>
            <a:ext cx="7557497" cy="897284"/>
          </a:xfrm>
          <a:prstGeom prst="rect">
            <a:avLst/>
          </a:prstGeom>
        </p:spPr>
        <p:txBody>
          <a:bodyPr lIns="0" tIns="0" rIns="0" bIns="0" rtlCol="0" anchor="t">
            <a:spAutoFit/>
          </a:bodyPr>
          <a:lstStyle/>
          <a:p>
            <a:pPr algn="l">
              <a:lnSpc>
                <a:spcPts val="3187"/>
              </a:lnSpc>
            </a:pPr>
            <a:r>
              <a:rPr lang="en-US" sz="2062">
                <a:solidFill>
                  <a:srgbClr val="3C3939"/>
                </a:solidFill>
                <a:latin typeface="Roboto"/>
                <a:ea typeface="Roboto"/>
                <a:cs typeface="Roboto"/>
                <a:sym typeface="Roboto"/>
              </a:rPr>
              <a:t>Users authenticate with secure credentials</a:t>
            </a:r>
          </a:p>
        </p:txBody>
      </p:sp>
      <p:grpSp>
        <p:nvGrpSpPr>
          <p:cNvPr id="15" name="Group 15"/>
          <p:cNvGrpSpPr/>
          <p:nvPr/>
        </p:nvGrpSpPr>
        <p:grpSpPr>
          <a:xfrm>
            <a:off x="7575652" y="1830876"/>
            <a:ext cx="10119731" cy="6822319"/>
            <a:chOff x="0" y="0"/>
            <a:chExt cx="13492975" cy="9096426"/>
          </a:xfrm>
        </p:grpSpPr>
        <p:sp>
          <p:nvSpPr>
            <p:cNvPr id="16" name="Freeform 16"/>
            <p:cNvSpPr/>
            <p:nvPr/>
          </p:nvSpPr>
          <p:spPr>
            <a:xfrm>
              <a:off x="0" y="0"/>
              <a:ext cx="13492987" cy="9096375"/>
            </a:xfrm>
            <a:custGeom>
              <a:avLst/>
              <a:gdLst/>
              <a:ahLst/>
              <a:cxnLst/>
              <a:rect l="l" t="t" r="r" b="b"/>
              <a:pathLst>
                <a:path w="13492987" h="9096375">
                  <a:moveTo>
                    <a:pt x="0" y="0"/>
                  </a:moveTo>
                  <a:lnTo>
                    <a:pt x="13492987" y="0"/>
                  </a:lnTo>
                  <a:lnTo>
                    <a:pt x="13492987" y="9096375"/>
                  </a:lnTo>
                  <a:lnTo>
                    <a:pt x="0" y="9096375"/>
                  </a:lnTo>
                  <a:lnTo>
                    <a:pt x="0" y="0"/>
                  </a:lnTo>
                  <a:close/>
                </a:path>
              </a:pathLst>
            </a:custGeom>
            <a:blipFill>
              <a:blip r:embed="rId2"/>
              <a:stretch>
                <a:fillRect t="-759" b="-759"/>
              </a:stretch>
            </a:blipFill>
          </p:spPr>
        </p:sp>
      </p:grpSp>
      <p:pic>
        <p:nvPicPr>
          <p:cNvPr id="17" name="Image 0" descr="preencoded.png">
            <a:extLst>
              <a:ext uri="{FF2B5EF4-FFF2-40B4-BE49-F238E27FC236}">
                <a16:creationId xmlns:a16="http://schemas.microsoft.com/office/drawing/2014/main" id="{E3CF7937-12B3-4F9C-4B9B-70D147109C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98588" y="2708042"/>
            <a:ext cx="392908" cy="39290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CECF3"/>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grpSp>
        <p:nvGrpSpPr>
          <p:cNvPr id="7" name="Group 7"/>
          <p:cNvGrpSpPr/>
          <p:nvPr/>
        </p:nvGrpSpPr>
        <p:grpSpPr>
          <a:xfrm>
            <a:off x="1568701" y="2272722"/>
            <a:ext cx="4290451" cy="304305"/>
            <a:chOff x="0" y="0"/>
            <a:chExt cx="5720601" cy="405740"/>
          </a:xfrm>
        </p:grpSpPr>
        <p:sp>
          <p:nvSpPr>
            <p:cNvPr id="8" name="Freeform 8"/>
            <p:cNvSpPr/>
            <p:nvPr/>
          </p:nvSpPr>
          <p:spPr>
            <a:xfrm>
              <a:off x="6350" y="6350"/>
              <a:ext cx="5707888" cy="393065"/>
            </a:xfrm>
            <a:custGeom>
              <a:avLst/>
              <a:gdLst/>
              <a:ahLst/>
              <a:cxnLst/>
              <a:rect l="l" t="t" r="r" b="b"/>
              <a:pathLst>
                <a:path w="5707888" h="393065">
                  <a:moveTo>
                    <a:pt x="0" y="165100"/>
                  </a:moveTo>
                  <a:cubicBezTo>
                    <a:pt x="0" y="73914"/>
                    <a:pt x="76073" y="0"/>
                    <a:pt x="170053" y="0"/>
                  </a:cubicBezTo>
                  <a:lnTo>
                    <a:pt x="5537835" y="0"/>
                  </a:lnTo>
                  <a:cubicBezTo>
                    <a:pt x="5631688" y="0"/>
                    <a:pt x="5707888" y="73914"/>
                    <a:pt x="5707888" y="165100"/>
                  </a:cubicBezTo>
                  <a:lnTo>
                    <a:pt x="5707888" y="227965"/>
                  </a:lnTo>
                  <a:cubicBezTo>
                    <a:pt x="5707888" y="319151"/>
                    <a:pt x="5631815" y="393065"/>
                    <a:pt x="5537835" y="393065"/>
                  </a:cubicBezTo>
                  <a:lnTo>
                    <a:pt x="170053" y="393065"/>
                  </a:lnTo>
                  <a:cubicBezTo>
                    <a:pt x="76073" y="393065"/>
                    <a:pt x="0" y="319151"/>
                    <a:pt x="0" y="227965"/>
                  </a:cubicBezTo>
                  <a:close/>
                </a:path>
              </a:pathLst>
            </a:custGeom>
            <a:solidFill>
              <a:srgbClr val="E1E1EA"/>
            </a:solidFill>
          </p:spPr>
        </p:sp>
        <p:sp>
          <p:nvSpPr>
            <p:cNvPr id="9" name="Freeform 9"/>
            <p:cNvSpPr/>
            <p:nvPr/>
          </p:nvSpPr>
          <p:spPr>
            <a:xfrm>
              <a:off x="0" y="0"/>
              <a:ext cx="5720588" cy="405765"/>
            </a:xfrm>
            <a:custGeom>
              <a:avLst/>
              <a:gdLst/>
              <a:ahLst/>
              <a:cxnLst/>
              <a:rect l="l" t="t" r="r" b="b"/>
              <a:pathLst>
                <a:path w="5720588" h="405765">
                  <a:moveTo>
                    <a:pt x="0" y="171450"/>
                  </a:moveTo>
                  <a:cubicBezTo>
                    <a:pt x="0" y="76581"/>
                    <a:pt x="79121" y="0"/>
                    <a:pt x="176403" y="0"/>
                  </a:cubicBezTo>
                  <a:lnTo>
                    <a:pt x="5544185" y="0"/>
                  </a:lnTo>
                  <a:lnTo>
                    <a:pt x="5544185" y="6350"/>
                  </a:lnTo>
                  <a:lnTo>
                    <a:pt x="5544185" y="0"/>
                  </a:lnTo>
                  <a:cubicBezTo>
                    <a:pt x="5641467" y="0"/>
                    <a:pt x="5720588" y="76581"/>
                    <a:pt x="5720588" y="171450"/>
                  </a:cubicBezTo>
                  <a:lnTo>
                    <a:pt x="5714238" y="171450"/>
                  </a:lnTo>
                  <a:lnTo>
                    <a:pt x="5720588" y="171450"/>
                  </a:lnTo>
                  <a:lnTo>
                    <a:pt x="5720588" y="234315"/>
                  </a:lnTo>
                  <a:lnTo>
                    <a:pt x="5714238" y="234315"/>
                  </a:lnTo>
                  <a:lnTo>
                    <a:pt x="5720588" y="234315"/>
                  </a:lnTo>
                  <a:cubicBezTo>
                    <a:pt x="5720588" y="329184"/>
                    <a:pt x="5641467" y="405765"/>
                    <a:pt x="5544185" y="405765"/>
                  </a:cubicBezTo>
                  <a:lnTo>
                    <a:pt x="5544185" y="399415"/>
                  </a:lnTo>
                  <a:lnTo>
                    <a:pt x="5544185" y="405765"/>
                  </a:lnTo>
                  <a:lnTo>
                    <a:pt x="176403" y="405765"/>
                  </a:lnTo>
                  <a:lnTo>
                    <a:pt x="176403" y="399415"/>
                  </a:lnTo>
                  <a:lnTo>
                    <a:pt x="176403" y="405765"/>
                  </a:lnTo>
                  <a:cubicBezTo>
                    <a:pt x="79121" y="405765"/>
                    <a:pt x="0" y="329184"/>
                    <a:pt x="0" y="234315"/>
                  </a:cubicBezTo>
                  <a:lnTo>
                    <a:pt x="0" y="171450"/>
                  </a:lnTo>
                  <a:lnTo>
                    <a:pt x="6350" y="171450"/>
                  </a:lnTo>
                  <a:lnTo>
                    <a:pt x="0" y="171450"/>
                  </a:lnTo>
                  <a:moveTo>
                    <a:pt x="12700" y="171450"/>
                  </a:moveTo>
                  <a:lnTo>
                    <a:pt x="12700" y="234315"/>
                  </a:lnTo>
                  <a:lnTo>
                    <a:pt x="6350" y="234315"/>
                  </a:lnTo>
                  <a:lnTo>
                    <a:pt x="12700" y="234315"/>
                  </a:lnTo>
                  <a:cubicBezTo>
                    <a:pt x="12700" y="321818"/>
                    <a:pt x="85852" y="393065"/>
                    <a:pt x="176403" y="393065"/>
                  </a:cubicBezTo>
                  <a:lnTo>
                    <a:pt x="5544185" y="393065"/>
                  </a:lnTo>
                  <a:cubicBezTo>
                    <a:pt x="5634736" y="393065"/>
                    <a:pt x="5707888" y="321818"/>
                    <a:pt x="5707888" y="234315"/>
                  </a:cubicBezTo>
                  <a:lnTo>
                    <a:pt x="5707888" y="171450"/>
                  </a:lnTo>
                  <a:cubicBezTo>
                    <a:pt x="5707888" y="83947"/>
                    <a:pt x="5634736" y="12700"/>
                    <a:pt x="5544185" y="12700"/>
                  </a:cubicBezTo>
                  <a:lnTo>
                    <a:pt x="176403" y="12700"/>
                  </a:lnTo>
                  <a:lnTo>
                    <a:pt x="176403" y="6350"/>
                  </a:lnTo>
                  <a:lnTo>
                    <a:pt x="176403" y="12700"/>
                  </a:lnTo>
                  <a:cubicBezTo>
                    <a:pt x="85852" y="12700"/>
                    <a:pt x="12700" y="83947"/>
                    <a:pt x="12700" y="171450"/>
                  </a:cubicBezTo>
                  <a:close/>
                </a:path>
              </a:pathLst>
            </a:custGeom>
            <a:solidFill>
              <a:srgbClr val="C7C7D0"/>
            </a:solidFill>
          </p:spPr>
        </p:sp>
      </p:grpSp>
      <p:grpSp>
        <p:nvGrpSpPr>
          <p:cNvPr id="10" name="Group 10"/>
          <p:cNvGrpSpPr/>
          <p:nvPr/>
        </p:nvGrpSpPr>
        <p:grpSpPr>
          <a:xfrm>
            <a:off x="970636" y="1969446"/>
            <a:ext cx="806948" cy="806948"/>
            <a:chOff x="0" y="0"/>
            <a:chExt cx="1075931" cy="1075931"/>
          </a:xfrm>
        </p:grpSpPr>
        <p:sp>
          <p:nvSpPr>
            <p:cNvPr id="11" name="Freeform 11"/>
            <p:cNvSpPr/>
            <p:nvPr/>
          </p:nvSpPr>
          <p:spPr>
            <a:xfrm>
              <a:off x="6350" y="6350"/>
              <a:ext cx="1063244" cy="1063244"/>
            </a:xfrm>
            <a:custGeom>
              <a:avLst/>
              <a:gdLst/>
              <a:ahLst/>
              <a:cxnLst/>
              <a:rect l="l" t="t" r="r" b="b"/>
              <a:pathLst>
                <a:path w="1063244" h="1063244">
                  <a:moveTo>
                    <a:pt x="0" y="531622"/>
                  </a:moveTo>
                  <a:cubicBezTo>
                    <a:pt x="0" y="237998"/>
                    <a:pt x="237998" y="0"/>
                    <a:pt x="531622" y="0"/>
                  </a:cubicBezTo>
                  <a:cubicBezTo>
                    <a:pt x="825246" y="0"/>
                    <a:pt x="1063244" y="237998"/>
                    <a:pt x="1063244" y="531622"/>
                  </a:cubicBezTo>
                  <a:cubicBezTo>
                    <a:pt x="1063244" y="825246"/>
                    <a:pt x="825246" y="1063244"/>
                    <a:pt x="531622" y="1063244"/>
                  </a:cubicBezTo>
                  <a:cubicBezTo>
                    <a:pt x="237998" y="1063244"/>
                    <a:pt x="0" y="825246"/>
                    <a:pt x="0" y="531622"/>
                  </a:cubicBezTo>
                  <a:close/>
                </a:path>
              </a:pathLst>
            </a:custGeom>
            <a:solidFill>
              <a:srgbClr val="E1E1EA"/>
            </a:solidFill>
          </p:spPr>
        </p:sp>
        <p:sp>
          <p:nvSpPr>
            <p:cNvPr id="12" name="Freeform 12"/>
            <p:cNvSpPr/>
            <p:nvPr/>
          </p:nvSpPr>
          <p:spPr>
            <a:xfrm>
              <a:off x="0" y="0"/>
              <a:ext cx="1075944" cy="1075944"/>
            </a:xfrm>
            <a:custGeom>
              <a:avLst/>
              <a:gdLst/>
              <a:ahLst/>
              <a:cxnLst/>
              <a:rect l="l" t="t" r="r" b="b"/>
              <a:pathLst>
                <a:path w="1075944" h="1075944">
                  <a:moveTo>
                    <a:pt x="0" y="537972"/>
                  </a:moveTo>
                  <a:cubicBezTo>
                    <a:pt x="0" y="240792"/>
                    <a:pt x="240792" y="0"/>
                    <a:pt x="537972" y="0"/>
                  </a:cubicBezTo>
                  <a:cubicBezTo>
                    <a:pt x="539877" y="0"/>
                    <a:pt x="541782" y="889"/>
                    <a:pt x="542925" y="2413"/>
                  </a:cubicBezTo>
                  <a:lnTo>
                    <a:pt x="537972" y="6350"/>
                  </a:lnTo>
                  <a:lnTo>
                    <a:pt x="537972" y="0"/>
                  </a:lnTo>
                  <a:lnTo>
                    <a:pt x="537972" y="6350"/>
                  </a:lnTo>
                  <a:lnTo>
                    <a:pt x="537972" y="0"/>
                  </a:lnTo>
                  <a:cubicBezTo>
                    <a:pt x="835025" y="0"/>
                    <a:pt x="1075944" y="240792"/>
                    <a:pt x="1075944" y="537972"/>
                  </a:cubicBezTo>
                  <a:cubicBezTo>
                    <a:pt x="1075944" y="540385"/>
                    <a:pt x="1074547" y="542544"/>
                    <a:pt x="1072388" y="543687"/>
                  </a:cubicBezTo>
                  <a:lnTo>
                    <a:pt x="1069594" y="537972"/>
                  </a:lnTo>
                  <a:lnTo>
                    <a:pt x="1075944" y="537972"/>
                  </a:lnTo>
                  <a:cubicBezTo>
                    <a:pt x="1075944" y="835025"/>
                    <a:pt x="835152" y="1075944"/>
                    <a:pt x="537972" y="1075944"/>
                  </a:cubicBezTo>
                  <a:lnTo>
                    <a:pt x="537972" y="1069594"/>
                  </a:lnTo>
                  <a:lnTo>
                    <a:pt x="537972" y="1075944"/>
                  </a:lnTo>
                  <a:cubicBezTo>
                    <a:pt x="240792" y="1075944"/>
                    <a:pt x="0" y="835025"/>
                    <a:pt x="0" y="537972"/>
                  </a:cubicBezTo>
                  <a:lnTo>
                    <a:pt x="6350" y="537972"/>
                  </a:lnTo>
                  <a:lnTo>
                    <a:pt x="0" y="537972"/>
                  </a:lnTo>
                  <a:moveTo>
                    <a:pt x="12700" y="537972"/>
                  </a:moveTo>
                  <a:lnTo>
                    <a:pt x="6350" y="537972"/>
                  </a:lnTo>
                  <a:lnTo>
                    <a:pt x="12700" y="537972"/>
                  </a:lnTo>
                  <a:cubicBezTo>
                    <a:pt x="12700" y="828040"/>
                    <a:pt x="247904" y="1063244"/>
                    <a:pt x="537972" y="1063244"/>
                  </a:cubicBezTo>
                  <a:cubicBezTo>
                    <a:pt x="828040" y="1063244"/>
                    <a:pt x="1063244" y="828040"/>
                    <a:pt x="1063244" y="537972"/>
                  </a:cubicBezTo>
                  <a:cubicBezTo>
                    <a:pt x="1063244" y="535559"/>
                    <a:pt x="1064641" y="533400"/>
                    <a:pt x="1066800" y="532257"/>
                  </a:cubicBezTo>
                  <a:lnTo>
                    <a:pt x="1069594" y="537972"/>
                  </a:lnTo>
                  <a:lnTo>
                    <a:pt x="1063244" y="537972"/>
                  </a:lnTo>
                  <a:cubicBezTo>
                    <a:pt x="1063244" y="247904"/>
                    <a:pt x="828040" y="12700"/>
                    <a:pt x="537972" y="12700"/>
                  </a:cubicBezTo>
                  <a:cubicBezTo>
                    <a:pt x="536067" y="12700"/>
                    <a:pt x="534162" y="11811"/>
                    <a:pt x="533019" y="10287"/>
                  </a:cubicBezTo>
                  <a:lnTo>
                    <a:pt x="537972" y="6350"/>
                  </a:lnTo>
                  <a:lnTo>
                    <a:pt x="537972" y="12700"/>
                  </a:lnTo>
                  <a:cubicBezTo>
                    <a:pt x="247904" y="12700"/>
                    <a:pt x="12700" y="247904"/>
                    <a:pt x="12700" y="537972"/>
                  </a:cubicBezTo>
                  <a:close/>
                </a:path>
              </a:pathLst>
            </a:custGeom>
            <a:solidFill>
              <a:srgbClr val="C7C7D0"/>
            </a:solidFill>
          </p:spPr>
        </p:sp>
      </p:grpSp>
      <p:sp>
        <p:nvSpPr>
          <p:cNvPr id="13" name="TextBox 13"/>
          <p:cNvSpPr txBox="1"/>
          <p:nvPr/>
        </p:nvSpPr>
        <p:spPr>
          <a:xfrm>
            <a:off x="1174747" y="3004661"/>
            <a:ext cx="3322587" cy="443951"/>
          </a:xfrm>
          <a:prstGeom prst="rect">
            <a:avLst/>
          </a:prstGeom>
        </p:spPr>
        <p:txBody>
          <a:bodyPr lIns="0" tIns="0" rIns="0" bIns="0" rtlCol="0" anchor="t">
            <a:spAutoFit/>
          </a:bodyPr>
          <a:lstStyle/>
          <a:p>
            <a:pPr algn="l">
              <a:lnSpc>
                <a:spcPts val="3250"/>
              </a:lnSpc>
            </a:pPr>
            <a:r>
              <a:rPr lang="en-US" sz="2562">
                <a:solidFill>
                  <a:srgbClr val="3C3939"/>
                </a:solidFill>
                <a:latin typeface="Raleway"/>
                <a:ea typeface="Raleway"/>
                <a:cs typeface="Raleway"/>
                <a:sym typeface="Raleway"/>
              </a:rPr>
              <a:t>Dashboard View</a:t>
            </a:r>
          </a:p>
        </p:txBody>
      </p:sp>
      <p:sp>
        <p:nvSpPr>
          <p:cNvPr id="14" name="TextBox 14"/>
          <p:cNvSpPr txBox="1"/>
          <p:nvPr/>
        </p:nvSpPr>
        <p:spPr>
          <a:xfrm>
            <a:off x="1174747" y="3535537"/>
            <a:ext cx="7557497" cy="478631"/>
          </a:xfrm>
          <a:prstGeom prst="rect">
            <a:avLst/>
          </a:prstGeom>
        </p:spPr>
        <p:txBody>
          <a:bodyPr lIns="0" tIns="0" rIns="0" bIns="0" rtlCol="0" anchor="t">
            <a:spAutoFit/>
          </a:bodyPr>
          <a:lstStyle/>
          <a:p>
            <a:pPr algn="l">
              <a:lnSpc>
                <a:spcPts val="3187"/>
              </a:lnSpc>
            </a:pPr>
            <a:r>
              <a:rPr lang="en-US" sz="2062">
                <a:solidFill>
                  <a:srgbClr val="3C3939"/>
                </a:solidFill>
                <a:latin typeface="Roboto"/>
                <a:ea typeface="Roboto"/>
                <a:cs typeface="Roboto"/>
                <a:sym typeface="Roboto"/>
              </a:rPr>
              <a:t>Overview with charts and balance summary</a:t>
            </a:r>
          </a:p>
        </p:txBody>
      </p:sp>
      <p:grpSp>
        <p:nvGrpSpPr>
          <p:cNvPr id="15" name="Group 15"/>
          <p:cNvGrpSpPr/>
          <p:nvPr/>
        </p:nvGrpSpPr>
        <p:grpSpPr>
          <a:xfrm>
            <a:off x="6611598" y="2173557"/>
            <a:ext cx="11327921" cy="6273489"/>
            <a:chOff x="0" y="0"/>
            <a:chExt cx="15103894" cy="8364652"/>
          </a:xfrm>
        </p:grpSpPr>
        <p:sp>
          <p:nvSpPr>
            <p:cNvPr id="16" name="Freeform 16"/>
            <p:cNvSpPr/>
            <p:nvPr/>
          </p:nvSpPr>
          <p:spPr>
            <a:xfrm>
              <a:off x="0" y="0"/>
              <a:ext cx="15103856" cy="8364601"/>
            </a:xfrm>
            <a:custGeom>
              <a:avLst/>
              <a:gdLst/>
              <a:ahLst/>
              <a:cxnLst/>
              <a:rect l="l" t="t" r="r" b="b"/>
              <a:pathLst>
                <a:path w="15103856" h="8364601">
                  <a:moveTo>
                    <a:pt x="0" y="0"/>
                  </a:moveTo>
                  <a:lnTo>
                    <a:pt x="15103856" y="0"/>
                  </a:lnTo>
                  <a:lnTo>
                    <a:pt x="15103856" y="8364601"/>
                  </a:lnTo>
                  <a:lnTo>
                    <a:pt x="0" y="8364601"/>
                  </a:lnTo>
                  <a:lnTo>
                    <a:pt x="0" y="0"/>
                  </a:lnTo>
                  <a:close/>
                </a:path>
              </a:pathLst>
            </a:custGeom>
            <a:blipFill>
              <a:blip r:embed="rId2"/>
              <a:stretch>
                <a:fillRect l="-8945" r="-8945"/>
              </a:stretch>
            </a:blipFill>
          </p:spPr>
        </p:sp>
      </p:grpSp>
      <p:pic>
        <p:nvPicPr>
          <p:cNvPr id="17" name="Image 1" descr="preencoded.png">
            <a:extLst>
              <a:ext uri="{FF2B5EF4-FFF2-40B4-BE49-F238E27FC236}">
                <a16:creationId xmlns:a16="http://schemas.microsoft.com/office/drawing/2014/main" id="{F96694FF-2D18-399B-2D28-8EE4CB22FB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60187" y="2161149"/>
            <a:ext cx="408514" cy="40851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CECF3"/>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grpSp>
        <p:nvGrpSpPr>
          <p:cNvPr id="7" name="Group 7"/>
          <p:cNvGrpSpPr/>
          <p:nvPr/>
        </p:nvGrpSpPr>
        <p:grpSpPr>
          <a:xfrm>
            <a:off x="1368504" y="2010556"/>
            <a:ext cx="4416885" cy="275330"/>
            <a:chOff x="0" y="0"/>
            <a:chExt cx="5889180" cy="367106"/>
          </a:xfrm>
        </p:grpSpPr>
        <p:sp>
          <p:nvSpPr>
            <p:cNvPr id="8" name="Freeform 8"/>
            <p:cNvSpPr/>
            <p:nvPr/>
          </p:nvSpPr>
          <p:spPr>
            <a:xfrm>
              <a:off x="6350" y="6350"/>
              <a:ext cx="5876417" cy="354330"/>
            </a:xfrm>
            <a:custGeom>
              <a:avLst/>
              <a:gdLst/>
              <a:ahLst/>
              <a:cxnLst/>
              <a:rect l="l" t="t" r="r" b="b"/>
              <a:pathLst>
                <a:path w="5876417" h="354330">
                  <a:moveTo>
                    <a:pt x="0" y="148844"/>
                  </a:moveTo>
                  <a:cubicBezTo>
                    <a:pt x="0" y="66675"/>
                    <a:pt x="68834" y="0"/>
                    <a:pt x="153797" y="0"/>
                  </a:cubicBezTo>
                  <a:lnTo>
                    <a:pt x="5722620" y="0"/>
                  </a:lnTo>
                  <a:cubicBezTo>
                    <a:pt x="5807583" y="0"/>
                    <a:pt x="5876417" y="66675"/>
                    <a:pt x="5876417" y="148844"/>
                  </a:cubicBezTo>
                  <a:lnTo>
                    <a:pt x="5876417" y="205486"/>
                  </a:lnTo>
                  <a:cubicBezTo>
                    <a:pt x="5876417" y="287655"/>
                    <a:pt x="5807583" y="354330"/>
                    <a:pt x="5722620" y="354330"/>
                  </a:cubicBezTo>
                  <a:lnTo>
                    <a:pt x="153797" y="354330"/>
                  </a:lnTo>
                  <a:cubicBezTo>
                    <a:pt x="68834" y="354457"/>
                    <a:pt x="0" y="287782"/>
                    <a:pt x="0" y="205613"/>
                  </a:cubicBezTo>
                  <a:close/>
                </a:path>
              </a:pathLst>
            </a:custGeom>
            <a:solidFill>
              <a:srgbClr val="E1E1EA"/>
            </a:solidFill>
          </p:spPr>
        </p:sp>
        <p:sp>
          <p:nvSpPr>
            <p:cNvPr id="9" name="Freeform 9"/>
            <p:cNvSpPr/>
            <p:nvPr/>
          </p:nvSpPr>
          <p:spPr>
            <a:xfrm>
              <a:off x="0" y="0"/>
              <a:ext cx="5889117" cy="367030"/>
            </a:xfrm>
            <a:custGeom>
              <a:avLst/>
              <a:gdLst/>
              <a:ahLst/>
              <a:cxnLst/>
              <a:rect l="l" t="t" r="r" b="b"/>
              <a:pathLst>
                <a:path w="5889117" h="367030">
                  <a:moveTo>
                    <a:pt x="0" y="155194"/>
                  </a:moveTo>
                  <a:cubicBezTo>
                    <a:pt x="0" y="69342"/>
                    <a:pt x="71882" y="0"/>
                    <a:pt x="160147" y="0"/>
                  </a:cubicBezTo>
                  <a:lnTo>
                    <a:pt x="5728970" y="0"/>
                  </a:lnTo>
                  <a:lnTo>
                    <a:pt x="5728970" y="6350"/>
                  </a:lnTo>
                  <a:lnTo>
                    <a:pt x="5728970" y="0"/>
                  </a:lnTo>
                  <a:cubicBezTo>
                    <a:pt x="5817235" y="0"/>
                    <a:pt x="5889117" y="69342"/>
                    <a:pt x="5889117" y="155194"/>
                  </a:cubicBezTo>
                  <a:lnTo>
                    <a:pt x="5882767" y="155194"/>
                  </a:lnTo>
                  <a:lnTo>
                    <a:pt x="5889117" y="155194"/>
                  </a:lnTo>
                  <a:lnTo>
                    <a:pt x="5889117" y="211836"/>
                  </a:lnTo>
                  <a:lnTo>
                    <a:pt x="5882767" y="211836"/>
                  </a:lnTo>
                  <a:lnTo>
                    <a:pt x="5889117" y="211836"/>
                  </a:lnTo>
                  <a:cubicBezTo>
                    <a:pt x="5889117" y="297688"/>
                    <a:pt x="5817235" y="367030"/>
                    <a:pt x="5728970" y="367030"/>
                  </a:cubicBezTo>
                  <a:lnTo>
                    <a:pt x="5728970" y="360680"/>
                  </a:lnTo>
                  <a:lnTo>
                    <a:pt x="5728970" y="367030"/>
                  </a:lnTo>
                  <a:lnTo>
                    <a:pt x="160147" y="367030"/>
                  </a:lnTo>
                  <a:lnTo>
                    <a:pt x="160147" y="360680"/>
                  </a:lnTo>
                  <a:lnTo>
                    <a:pt x="160147" y="367030"/>
                  </a:lnTo>
                  <a:cubicBezTo>
                    <a:pt x="71882" y="367157"/>
                    <a:pt x="0" y="297815"/>
                    <a:pt x="0" y="211963"/>
                  </a:cubicBezTo>
                  <a:lnTo>
                    <a:pt x="0" y="155194"/>
                  </a:lnTo>
                  <a:lnTo>
                    <a:pt x="6350" y="155194"/>
                  </a:lnTo>
                  <a:lnTo>
                    <a:pt x="0" y="155194"/>
                  </a:lnTo>
                  <a:moveTo>
                    <a:pt x="12700" y="155194"/>
                  </a:moveTo>
                  <a:lnTo>
                    <a:pt x="12700" y="211836"/>
                  </a:lnTo>
                  <a:lnTo>
                    <a:pt x="6350" y="211836"/>
                  </a:lnTo>
                  <a:lnTo>
                    <a:pt x="12700" y="211836"/>
                  </a:lnTo>
                  <a:cubicBezTo>
                    <a:pt x="12700" y="290322"/>
                    <a:pt x="78486" y="354330"/>
                    <a:pt x="160147" y="354330"/>
                  </a:cubicBezTo>
                  <a:lnTo>
                    <a:pt x="5728970" y="354330"/>
                  </a:lnTo>
                  <a:cubicBezTo>
                    <a:pt x="5810631" y="354330"/>
                    <a:pt x="5876417" y="290322"/>
                    <a:pt x="5876417" y="211836"/>
                  </a:cubicBezTo>
                  <a:lnTo>
                    <a:pt x="5876417" y="155194"/>
                  </a:lnTo>
                  <a:cubicBezTo>
                    <a:pt x="5876417" y="76708"/>
                    <a:pt x="5810631" y="12700"/>
                    <a:pt x="5728970" y="12700"/>
                  </a:cubicBezTo>
                  <a:lnTo>
                    <a:pt x="160147" y="12700"/>
                  </a:lnTo>
                  <a:lnTo>
                    <a:pt x="160147" y="6350"/>
                  </a:lnTo>
                  <a:lnTo>
                    <a:pt x="160147" y="12700"/>
                  </a:lnTo>
                  <a:cubicBezTo>
                    <a:pt x="78486" y="12700"/>
                    <a:pt x="12700" y="76708"/>
                    <a:pt x="12700" y="155194"/>
                  </a:cubicBezTo>
                  <a:close/>
                </a:path>
              </a:pathLst>
            </a:custGeom>
            <a:solidFill>
              <a:srgbClr val="C7C7D0"/>
            </a:solidFill>
          </p:spPr>
        </p:sp>
      </p:grpSp>
      <p:grpSp>
        <p:nvGrpSpPr>
          <p:cNvPr id="10" name="Group 10"/>
          <p:cNvGrpSpPr/>
          <p:nvPr/>
        </p:nvGrpSpPr>
        <p:grpSpPr>
          <a:xfrm>
            <a:off x="792661" y="1741846"/>
            <a:ext cx="806948" cy="806948"/>
            <a:chOff x="0" y="0"/>
            <a:chExt cx="1075931" cy="1075931"/>
          </a:xfrm>
        </p:grpSpPr>
        <p:sp>
          <p:nvSpPr>
            <p:cNvPr id="11" name="Freeform 11"/>
            <p:cNvSpPr/>
            <p:nvPr/>
          </p:nvSpPr>
          <p:spPr>
            <a:xfrm>
              <a:off x="6350" y="6350"/>
              <a:ext cx="1063244" cy="1063244"/>
            </a:xfrm>
            <a:custGeom>
              <a:avLst/>
              <a:gdLst/>
              <a:ahLst/>
              <a:cxnLst/>
              <a:rect l="l" t="t" r="r" b="b"/>
              <a:pathLst>
                <a:path w="1063244" h="1063244">
                  <a:moveTo>
                    <a:pt x="0" y="531622"/>
                  </a:moveTo>
                  <a:cubicBezTo>
                    <a:pt x="0" y="237998"/>
                    <a:pt x="237998" y="0"/>
                    <a:pt x="531622" y="0"/>
                  </a:cubicBezTo>
                  <a:cubicBezTo>
                    <a:pt x="825246" y="0"/>
                    <a:pt x="1063244" y="237998"/>
                    <a:pt x="1063244" y="531622"/>
                  </a:cubicBezTo>
                  <a:cubicBezTo>
                    <a:pt x="1063244" y="825246"/>
                    <a:pt x="825246" y="1063244"/>
                    <a:pt x="531622" y="1063244"/>
                  </a:cubicBezTo>
                  <a:cubicBezTo>
                    <a:pt x="237998" y="1063244"/>
                    <a:pt x="0" y="825246"/>
                    <a:pt x="0" y="531622"/>
                  </a:cubicBezTo>
                  <a:close/>
                </a:path>
              </a:pathLst>
            </a:custGeom>
            <a:solidFill>
              <a:srgbClr val="E1E1EA"/>
            </a:solidFill>
          </p:spPr>
        </p:sp>
        <p:sp>
          <p:nvSpPr>
            <p:cNvPr id="12" name="Freeform 12"/>
            <p:cNvSpPr/>
            <p:nvPr/>
          </p:nvSpPr>
          <p:spPr>
            <a:xfrm>
              <a:off x="0" y="0"/>
              <a:ext cx="1075944" cy="1075944"/>
            </a:xfrm>
            <a:custGeom>
              <a:avLst/>
              <a:gdLst/>
              <a:ahLst/>
              <a:cxnLst/>
              <a:rect l="l" t="t" r="r" b="b"/>
              <a:pathLst>
                <a:path w="1075944" h="1075944">
                  <a:moveTo>
                    <a:pt x="0" y="537972"/>
                  </a:moveTo>
                  <a:cubicBezTo>
                    <a:pt x="0" y="240792"/>
                    <a:pt x="240792" y="0"/>
                    <a:pt x="537972" y="0"/>
                  </a:cubicBezTo>
                  <a:cubicBezTo>
                    <a:pt x="539877" y="0"/>
                    <a:pt x="541782" y="889"/>
                    <a:pt x="542925" y="2413"/>
                  </a:cubicBezTo>
                  <a:lnTo>
                    <a:pt x="537972" y="6350"/>
                  </a:lnTo>
                  <a:lnTo>
                    <a:pt x="537972" y="0"/>
                  </a:lnTo>
                  <a:lnTo>
                    <a:pt x="537972" y="6350"/>
                  </a:lnTo>
                  <a:lnTo>
                    <a:pt x="537972" y="0"/>
                  </a:lnTo>
                  <a:cubicBezTo>
                    <a:pt x="835025" y="0"/>
                    <a:pt x="1075944" y="240792"/>
                    <a:pt x="1075944" y="537972"/>
                  </a:cubicBezTo>
                  <a:cubicBezTo>
                    <a:pt x="1075944" y="540385"/>
                    <a:pt x="1074547" y="542544"/>
                    <a:pt x="1072388" y="543687"/>
                  </a:cubicBezTo>
                  <a:lnTo>
                    <a:pt x="1069594" y="537972"/>
                  </a:lnTo>
                  <a:lnTo>
                    <a:pt x="1075944" y="537972"/>
                  </a:lnTo>
                  <a:cubicBezTo>
                    <a:pt x="1075944" y="835025"/>
                    <a:pt x="835152" y="1075944"/>
                    <a:pt x="537972" y="1075944"/>
                  </a:cubicBezTo>
                  <a:lnTo>
                    <a:pt x="537972" y="1069594"/>
                  </a:lnTo>
                  <a:lnTo>
                    <a:pt x="537972" y="1075944"/>
                  </a:lnTo>
                  <a:cubicBezTo>
                    <a:pt x="240792" y="1075944"/>
                    <a:pt x="0" y="835025"/>
                    <a:pt x="0" y="537972"/>
                  </a:cubicBezTo>
                  <a:lnTo>
                    <a:pt x="6350" y="537972"/>
                  </a:lnTo>
                  <a:lnTo>
                    <a:pt x="0" y="537972"/>
                  </a:lnTo>
                  <a:moveTo>
                    <a:pt x="12700" y="537972"/>
                  </a:moveTo>
                  <a:lnTo>
                    <a:pt x="6350" y="537972"/>
                  </a:lnTo>
                  <a:lnTo>
                    <a:pt x="12700" y="537972"/>
                  </a:lnTo>
                  <a:cubicBezTo>
                    <a:pt x="12700" y="828040"/>
                    <a:pt x="247904" y="1063244"/>
                    <a:pt x="537972" y="1063244"/>
                  </a:cubicBezTo>
                  <a:cubicBezTo>
                    <a:pt x="828040" y="1063244"/>
                    <a:pt x="1063244" y="828040"/>
                    <a:pt x="1063244" y="537972"/>
                  </a:cubicBezTo>
                  <a:cubicBezTo>
                    <a:pt x="1063244" y="535559"/>
                    <a:pt x="1064641" y="533400"/>
                    <a:pt x="1066800" y="532257"/>
                  </a:cubicBezTo>
                  <a:lnTo>
                    <a:pt x="1069594" y="537972"/>
                  </a:lnTo>
                  <a:lnTo>
                    <a:pt x="1063244" y="537972"/>
                  </a:lnTo>
                  <a:cubicBezTo>
                    <a:pt x="1063244" y="247904"/>
                    <a:pt x="828040" y="12700"/>
                    <a:pt x="537972" y="12700"/>
                  </a:cubicBezTo>
                  <a:cubicBezTo>
                    <a:pt x="536067" y="12700"/>
                    <a:pt x="534162" y="11811"/>
                    <a:pt x="533019" y="10287"/>
                  </a:cubicBezTo>
                  <a:lnTo>
                    <a:pt x="537972" y="6350"/>
                  </a:lnTo>
                  <a:lnTo>
                    <a:pt x="537972" y="12700"/>
                  </a:lnTo>
                  <a:cubicBezTo>
                    <a:pt x="247904" y="12700"/>
                    <a:pt x="12700" y="247904"/>
                    <a:pt x="12700" y="537972"/>
                  </a:cubicBezTo>
                  <a:close/>
                </a:path>
              </a:pathLst>
            </a:custGeom>
            <a:solidFill>
              <a:srgbClr val="C7C7D0"/>
            </a:solidFill>
          </p:spPr>
        </p:sp>
      </p:grpSp>
      <p:sp>
        <p:nvSpPr>
          <p:cNvPr id="13" name="TextBox 13"/>
          <p:cNvSpPr txBox="1"/>
          <p:nvPr/>
        </p:nvSpPr>
        <p:spPr>
          <a:xfrm>
            <a:off x="930326" y="2778100"/>
            <a:ext cx="3322587" cy="443951"/>
          </a:xfrm>
          <a:prstGeom prst="rect">
            <a:avLst/>
          </a:prstGeom>
        </p:spPr>
        <p:txBody>
          <a:bodyPr lIns="0" tIns="0" rIns="0" bIns="0" rtlCol="0" anchor="t">
            <a:spAutoFit/>
          </a:bodyPr>
          <a:lstStyle/>
          <a:p>
            <a:pPr algn="l">
              <a:lnSpc>
                <a:spcPts val="3250"/>
              </a:lnSpc>
            </a:pPr>
            <a:r>
              <a:rPr lang="en-US" sz="2562">
                <a:solidFill>
                  <a:srgbClr val="3C3939"/>
                </a:solidFill>
                <a:latin typeface="Raleway"/>
                <a:ea typeface="Raleway"/>
                <a:cs typeface="Raleway"/>
                <a:sym typeface="Raleway"/>
              </a:rPr>
              <a:t>Add Transaction</a:t>
            </a:r>
          </a:p>
        </p:txBody>
      </p:sp>
      <p:sp>
        <p:nvSpPr>
          <p:cNvPr id="14" name="TextBox 14"/>
          <p:cNvSpPr txBox="1"/>
          <p:nvPr/>
        </p:nvSpPr>
        <p:spPr>
          <a:xfrm>
            <a:off x="930326" y="3278896"/>
            <a:ext cx="7557497" cy="478631"/>
          </a:xfrm>
          <a:prstGeom prst="rect">
            <a:avLst/>
          </a:prstGeom>
        </p:spPr>
        <p:txBody>
          <a:bodyPr lIns="0" tIns="0" rIns="0" bIns="0" rtlCol="0" anchor="t">
            <a:spAutoFit/>
          </a:bodyPr>
          <a:lstStyle/>
          <a:p>
            <a:pPr algn="l">
              <a:lnSpc>
                <a:spcPts val="3187"/>
              </a:lnSpc>
            </a:pPr>
            <a:r>
              <a:rPr lang="en-US" sz="2062">
                <a:solidFill>
                  <a:srgbClr val="3C3939"/>
                </a:solidFill>
                <a:latin typeface="Roboto"/>
                <a:ea typeface="Roboto"/>
                <a:cs typeface="Roboto"/>
                <a:sym typeface="Roboto"/>
              </a:rPr>
              <a:t>Form interface for new entries</a:t>
            </a:r>
          </a:p>
        </p:txBody>
      </p:sp>
      <p:grpSp>
        <p:nvGrpSpPr>
          <p:cNvPr id="15" name="Group 15"/>
          <p:cNvGrpSpPr/>
          <p:nvPr/>
        </p:nvGrpSpPr>
        <p:grpSpPr>
          <a:xfrm>
            <a:off x="9966398" y="1608830"/>
            <a:ext cx="6282985" cy="8092726"/>
            <a:chOff x="0" y="0"/>
            <a:chExt cx="8377314" cy="10790301"/>
          </a:xfrm>
        </p:grpSpPr>
        <p:sp>
          <p:nvSpPr>
            <p:cNvPr id="16" name="Freeform 16"/>
            <p:cNvSpPr/>
            <p:nvPr/>
          </p:nvSpPr>
          <p:spPr>
            <a:xfrm>
              <a:off x="0" y="0"/>
              <a:ext cx="8377301" cy="10790301"/>
            </a:xfrm>
            <a:custGeom>
              <a:avLst/>
              <a:gdLst/>
              <a:ahLst/>
              <a:cxnLst/>
              <a:rect l="l" t="t" r="r" b="b"/>
              <a:pathLst>
                <a:path w="8377301" h="10790301">
                  <a:moveTo>
                    <a:pt x="0" y="0"/>
                  </a:moveTo>
                  <a:lnTo>
                    <a:pt x="8377301" y="0"/>
                  </a:lnTo>
                  <a:lnTo>
                    <a:pt x="8377301" y="10790301"/>
                  </a:lnTo>
                  <a:lnTo>
                    <a:pt x="0" y="10790301"/>
                  </a:lnTo>
                  <a:lnTo>
                    <a:pt x="0" y="0"/>
                  </a:lnTo>
                  <a:close/>
                </a:path>
              </a:pathLst>
            </a:custGeom>
            <a:blipFill>
              <a:blip r:embed="rId2"/>
              <a:stretch>
                <a:fillRect t="-2580" b="-2580"/>
              </a:stretch>
            </a:blipFill>
          </p:spPr>
        </p:sp>
      </p:grpSp>
      <p:pic>
        <p:nvPicPr>
          <p:cNvPr id="17" name="Image 2" descr="preencoded.png">
            <a:extLst>
              <a:ext uri="{FF2B5EF4-FFF2-40B4-BE49-F238E27FC236}">
                <a16:creationId xmlns:a16="http://schemas.microsoft.com/office/drawing/2014/main" id="{DC8CFBEF-C716-BBF6-0DC1-F885A15578C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5193" y="1904378"/>
            <a:ext cx="481892" cy="48189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CECF3"/>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grpSp>
        <p:nvGrpSpPr>
          <p:cNvPr id="7" name="Group 7"/>
          <p:cNvGrpSpPr/>
          <p:nvPr/>
        </p:nvGrpSpPr>
        <p:grpSpPr>
          <a:xfrm>
            <a:off x="1299029" y="2308165"/>
            <a:ext cx="4643761" cy="341786"/>
            <a:chOff x="0" y="0"/>
            <a:chExt cx="6191682" cy="455714"/>
          </a:xfrm>
        </p:grpSpPr>
        <p:sp>
          <p:nvSpPr>
            <p:cNvPr id="8" name="Freeform 8"/>
            <p:cNvSpPr/>
            <p:nvPr/>
          </p:nvSpPr>
          <p:spPr>
            <a:xfrm>
              <a:off x="6350" y="6350"/>
              <a:ext cx="6178931" cy="442976"/>
            </a:xfrm>
            <a:custGeom>
              <a:avLst/>
              <a:gdLst/>
              <a:ahLst/>
              <a:cxnLst/>
              <a:rect l="l" t="t" r="r" b="b"/>
              <a:pathLst>
                <a:path w="6178931" h="442976">
                  <a:moveTo>
                    <a:pt x="0" y="186055"/>
                  </a:moveTo>
                  <a:cubicBezTo>
                    <a:pt x="0" y="83312"/>
                    <a:pt x="85471" y="0"/>
                    <a:pt x="191008" y="0"/>
                  </a:cubicBezTo>
                  <a:lnTo>
                    <a:pt x="5987923" y="0"/>
                  </a:lnTo>
                  <a:cubicBezTo>
                    <a:pt x="6093460" y="0"/>
                    <a:pt x="6178931" y="83312"/>
                    <a:pt x="6178931" y="186055"/>
                  </a:cubicBezTo>
                  <a:lnTo>
                    <a:pt x="6178931" y="256921"/>
                  </a:lnTo>
                  <a:cubicBezTo>
                    <a:pt x="6178931" y="359664"/>
                    <a:pt x="6093460" y="442976"/>
                    <a:pt x="5987923" y="442976"/>
                  </a:cubicBezTo>
                  <a:lnTo>
                    <a:pt x="191008" y="442976"/>
                  </a:lnTo>
                  <a:cubicBezTo>
                    <a:pt x="85471" y="442976"/>
                    <a:pt x="0" y="359664"/>
                    <a:pt x="0" y="256921"/>
                  </a:cubicBezTo>
                  <a:close/>
                </a:path>
              </a:pathLst>
            </a:custGeom>
            <a:solidFill>
              <a:srgbClr val="E1E1EA"/>
            </a:solidFill>
          </p:spPr>
        </p:sp>
        <p:sp>
          <p:nvSpPr>
            <p:cNvPr id="9" name="Freeform 9"/>
            <p:cNvSpPr/>
            <p:nvPr/>
          </p:nvSpPr>
          <p:spPr>
            <a:xfrm>
              <a:off x="0" y="0"/>
              <a:ext cx="6191631" cy="455676"/>
            </a:xfrm>
            <a:custGeom>
              <a:avLst/>
              <a:gdLst/>
              <a:ahLst/>
              <a:cxnLst/>
              <a:rect l="l" t="t" r="r" b="b"/>
              <a:pathLst>
                <a:path w="6191631" h="455676">
                  <a:moveTo>
                    <a:pt x="0" y="192405"/>
                  </a:moveTo>
                  <a:cubicBezTo>
                    <a:pt x="0" y="85979"/>
                    <a:pt x="88519" y="0"/>
                    <a:pt x="197358" y="0"/>
                  </a:cubicBezTo>
                  <a:lnTo>
                    <a:pt x="5994273" y="0"/>
                  </a:lnTo>
                  <a:lnTo>
                    <a:pt x="5994273" y="6350"/>
                  </a:lnTo>
                  <a:lnTo>
                    <a:pt x="5994273" y="0"/>
                  </a:lnTo>
                  <a:cubicBezTo>
                    <a:pt x="6103112" y="0"/>
                    <a:pt x="6191631" y="85979"/>
                    <a:pt x="6191631" y="192405"/>
                  </a:cubicBezTo>
                  <a:lnTo>
                    <a:pt x="6185281" y="192405"/>
                  </a:lnTo>
                  <a:lnTo>
                    <a:pt x="6191631" y="192405"/>
                  </a:lnTo>
                  <a:lnTo>
                    <a:pt x="6191631" y="263271"/>
                  </a:lnTo>
                  <a:lnTo>
                    <a:pt x="6185281" y="263271"/>
                  </a:lnTo>
                  <a:lnTo>
                    <a:pt x="6191631" y="263271"/>
                  </a:lnTo>
                  <a:cubicBezTo>
                    <a:pt x="6191631" y="369697"/>
                    <a:pt x="6103112" y="455676"/>
                    <a:pt x="5994273" y="455676"/>
                  </a:cubicBezTo>
                  <a:lnTo>
                    <a:pt x="5994273" y="449326"/>
                  </a:lnTo>
                  <a:lnTo>
                    <a:pt x="5994273" y="455676"/>
                  </a:lnTo>
                  <a:lnTo>
                    <a:pt x="197358" y="455676"/>
                  </a:lnTo>
                  <a:lnTo>
                    <a:pt x="197358" y="449326"/>
                  </a:lnTo>
                  <a:lnTo>
                    <a:pt x="197358" y="455676"/>
                  </a:lnTo>
                  <a:cubicBezTo>
                    <a:pt x="88519" y="455676"/>
                    <a:pt x="0" y="369697"/>
                    <a:pt x="0" y="263271"/>
                  </a:cubicBezTo>
                  <a:lnTo>
                    <a:pt x="0" y="192405"/>
                  </a:lnTo>
                  <a:lnTo>
                    <a:pt x="6350" y="192405"/>
                  </a:lnTo>
                  <a:lnTo>
                    <a:pt x="0" y="192405"/>
                  </a:lnTo>
                  <a:moveTo>
                    <a:pt x="12700" y="192405"/>
                  </a:moveTo>
                  <a:lnTo>
                    <a:pt x="12700" y="263271"/>
                  </a:lnTo>
                  <a:lnTo>
                    <a:pt x="6350" y="263271"/>
                  </a:lnTo>
                  <a:lnTo>
                    <a:pt x="12700" y="263271"/>
                  </a:lnTo>
                  <a:cubicBezTo>
                    <a:pt x="12700" y="362331"/>
                    <a:pt x="95250" y="442976"/>
                    <a:pt x="197358" y="442976"/>
                  </a:cubicBezTo>
                  <a:lnTo>
                    <a:pt x="5994273" y="442976"/>
                  </a:lnTo>
                  <a:cubicBezTo>
                    <a:pt x="6096381" y="442976"/>
                    <a:pt x="6178931" y="362331"/>
                    <a:pt x="6178931" y="263271"/>
                  </a:cubicBezTo>
                  <a:lnTo>
                    <a:pt x="6178931" y="192405"/>
                  </a:lnTo>
                  <a:cubicBezTo>
                    <a:pt x="6178931" y="93345"/>
                    <a:pt x="6096381" y="12700"/>
                    <a:pt x="5994273" y="12700"/>
                  </a:cubicBezTo>
                  <a:lnTo>
                    <a:pt x="197358" y="12700"/>
                  </a:lnTo>
                  <a:lnTo>
                    <a:pt x="197358" y="6350"/>
                  </a:lnTo>
                  <a:lnTo>
                    <a:pt x="197358" y="12700"/>
                  </a:lnTo>
                  <a:cubicBezTo>
                    <a:pt x="95250" y="12700"/>
                    <a:pt x="12700" y="93345"/>
                    <a:pt x="12700" y="192405"/>
                  </a:cubicBezTo>
                  <a:close/>
                </a:path>
              </a:pathLst>
            </a:custGeom>
            <a:solidFill>
              <a:srgbClr val="C7C7D0"/>
            </a:solidFill>
          </p:spPr>
        </p:sp>
      </p:grpSp>
      <p:grpSp>
        <p:nvGrpSpPr>
          <p:cNvPr id="10" name="Group 10"/>
          <p:cNvGrpSpPr/>
          <p:nvPr/>
        </p:nvGrpSpPr>
        <p:grpSpPr>
          <a:xfrm>
            <a:off x="726205" y="2042350"/>
            <a:ext cx="806948" cy="806948"/>
            <a:chOff x="0" y="0"/>
            <a:chExt cx="1075931" cy="1075931"/>
          </a:xfrm>
        </p:grpSpPr>
        <p:sp>
          <p:nvSpPr>
            <p:cNvPr id="11" name="Freeform 11"/>
            <p:cNvSpPr/>
            <p:nvPr/>
          </p:nvSpPr>
          <p:spPr>
            <a:xfrm>
              <a:off x="6350" y="6350"/>
              <a:ext cx="1063244" cy="1063244"/>
            </a:xfrm>
            <a:custGeom>
              <a:avLst/>
              <a:gdLst/>
              <a:ahLst/>
              <a:cxnLst/>
              <a:rect l="l" t="t" r="r" b="b"/>
              <a:pathLst>
                <a:path w="1063244" h="1063244">
                  <a:moveTo>
                    <a:pt x="0" y="531622"/>
                  </a:moveTo>
                  <a:cubicBezTo>
                    <a:pt x="0" y="237998"/>
                    <a:pt x="237998" y="0"/>
                    <a:pt x="531622" y="0"/>
                  </a:cubicBezTo>
                  <a:cubicBezTo>
                    <a:pt x="825246" y="0"/>
                    <a:pt x="1063244" y="237998"/>
                    <a:pt x="1063244" y="531622"/>
                  </a:cubicBezTo>
                  <a:cubicBezTo>
                    <a:pt x="1063244" y="825246"/>
                    <a:pt x="825246" y="1063244"/>
                    <a:pt x="531622" y="1063244"/>
                  </a:cubicBezTo>
                  <a:cubicBezTo>
                    <a:pt x="237998" y="1063244"/>
                    <a:pt x="0" y="825246"/>
                    <a:pt x="0" y="531622"/>
                  </a:cubicBezTo>
                  <a:close/>
                </a:path>
              </a:pathLst>
            </a:custGeom>
            <a:solidFill>
              <a:srgbClr val="E1E1EA"/>
            </a:solidFill>
          </p:spPr>
        </p:sp>
        <p:sp>
          <p:nvSpPr>
            <p:cNvPr id="12" name="Freeform 12"/>
            <p:cNvSpPr/>
            <p:nvPr/>
          </p:nvSpPr>
          <p:spPr>
            <a:xfrm>
              <a:off x="0" y="0"/>
              <a:ext cx="1075944" cy="1075944"/>
            </a:xfrm>
            <a:custGeom>
              <a:avLst/>
              <a:gdLst/>
              <a:ahLst/>
              <a:cxnLst/>
              <a:rect l="l" t="t" r="r" b="b"/>
              <a:pathLst>
                <a:path w="1075944" h="1075944">
                  <a:moveTo>
                    <a:pt x="0" y="537972"/>
                  </a:moveTo>
                  <a:cubicBezTo>
                    <a:pt x="0" y="240792"/>
                    <a:pt x="240792" y="0"/>
                    <a:pt x="537972" y="0"/>
                  </a:cubicBezTo>
                  <a:cubicBezTo>
                    <a:pt x="539877" y="0"/>
                    <a:pt x="541782" y="889"/>
                    <a:pt x="542925" y="2413"/>
                  </a:cubicBezTo>
                  <a:lnTo>
                    <a:pt x="537972" y="6350"/>
                  </a:lnTo>
                  <a:lnTo>
                    <a:pt x="537972" y="0"/>
                  </a:lnTo>
                  <a:lnTo>
                    <a:pt x="537972" y="6350"/>
                  </a:lnTo>
                  <a:lnTo>
                    <a:pt x="537972" y="0"/>
                  </a:lnTo>
                  <a:cubicBezTo>
                    <a:pt x="835025" y="0"/>
                    <a:pt x="1075944" y="240792"/>
                    <a:pt x="1075944" y="537972"/>
                  </a:cubicBezTo>
                  <a:cubicBezTo>
                    <a:pt x="1075944" y="540385"/>
                    <a:pt x="1074547" y="542544"/>
                    <a:pt x="1072388" y="543687"/>
                  </a:cubicBezTo>
                  <a:lnTo>
                    <a:pt x="1069594" y="537972"/>
                  </a:lnTo>
                  <a:lnTo>
                    <a:pt x="1075944" y="537972"/>
                  </a:lnTo>
                  <a:cubicBezTo>
                    <a:pt x="1075944" y="835025"/>
                    <a:pt x="835152" y="1075944"/>
                    <a:pt x="537972" y="1075944"/>
                  </a:cubicBezTo>
                  <a:lnTo>
                    <a:pt x="537972" y="1069594"/>
                  </a:lnTo>
                  <a:lnTo>
                    <a:pt x="537972" y="1075944"/>
                  </a:lnTo>
                  <a:cubicBezTo>
                    <a:pt x="240792" y="1075944"/>
                    <a:pt x="0" y="835025"/>
                    <a:pt x="0" y="537972"/>
                  </a:cubicBezTo>
                  <a:lnTo>
                    <a:pt x="6350" y="537972"/>
                  </a:lnTo>
                  <a:lnTo>
                    <a:pt x="0" y="537972"/>
                  </a:lnTo>
                  <a:moveTo>
                    <a:pt x="12700" y="537972"/>
                  </a:moveTo>
                  <a:lnTo>
                    <a:pt x="6350" y="537972"/>
                  </a:lnTo>
                  <a:lnTo>
                    <a:pt x="12700" y="537972"/>
                  </a:lnTo>
                  <a:cubicBezTo>
                    <a:pt x="12700" y="828040"/>
                    <a:pt x="247904" y="1063244"/>
                    <a:pt x="537972" y="1063244"/>
                  </a:cubicBezTo>
                  <a:cubicBezTo>
                    <a:pt x="828040" y="1063244"/>
                    <a:pt x="1063244" y="828040"/>
                    <a:pt x="1063244" y="537972"/>
                  </a:cubicBezTo>
                  <a:cubicBezTo>
                    <a:pt x="1063244" y="535559"/>
                    <a:pt x="1064641" y="533400"/>
                    <a:pt x="1066800" y="532257"/>
                  </a:cubicBezTo>
                  <a:lnTo>
                    <a:pt x="1069594" y="537972"/>
                  </a:lnTo>
                  <a:lnTo>
                    <a:pt x="1063244" y="537972"/>
                  </a:lnTo>
                  <a:cubicBezTo>
                    <a:pt x="1063244" y="247904"/>
                    <a:pt x="828040" y="12700"/>
                    <a:pt x="537972" y="12700"/>
                  </a:cubicBezTo>
                  <a:cubicBezTo>
                    <a:pt x="536067" y="12700"/>
                    <a:pt x="534162" y="11811"/>
                    <a:pt x="533019" y="10287"/>
                  </a:cubicBezTo>
                  <a:lnTo>
                    <a:pt x="537972" y="6350"/>
                  </a:lnTo>
                  <a:lnTo>
                    <a:pt x="537972" y="12700"/>
                  </a:lnTo>
                  <a:cubicBezTo>
                    <a:pt x="247904" y="12700"/>
                    <a:pt x="12700" y="247904"/>
                    <a:pt x="12700" y="537972"/>
                  </a:cubicBezTo>
                  <a:close/>
                </a:path>
              </a:pathLst>
            </a:custGeom>
            <a:solidFill>
              <a:srgbClr val="C7C7D0"/>
            </a:solidFill>
          </p:spPr>
        </p:sp>
      </p:grpSp>
      <p:sp>
        <p:nvSpPr>
          <p:cNvPr id="13" name="TextBox 13"/>
          <p:cNvSpPr txBox="1"/>
          <p:nvPr/>
        </p:nvSpPr>
        <p:spPr>
          <a:xfrm>
            <a:off x="930402" y="3142993"/>
            <a:ext cx="3322587" cy="443951"/>
          </a:xfrm>
          <a:prstGeom prst="rect">
            <a:avLst/>
          </a:prstGeom>
        </p:spPr>
        <p:txBody>
          <a:bodyPr lIns="0" tIns="0" rIns="0" bIns="0" rtlCol="0" anchor="t">
            <a:spAutoFit/>
          </a:bodyPr>
          <a:lstStyle/>
          <a:p>
            <a:pPr algn="l">
              <a:lnSpc>
                <a:spcPts val="3250"/>
              </a:lnSpc>
            </a:pPr>
            <a:r>
              <a:rPr lang="en-US" sz="2562">
                <a:solidFill>
                  <a:srgbClr val="3C3939"/>
                </a:solidFill>
                <a:latin typeface="Raleway"/>
                <a:ea typeface="Raleway"/>
                <a:cs typeface="Raleway"/>
                <a:sym typeface="Raleway"/>
              </a:rPr>
              <a:t>Visual Analytics</a:t>
            </a:r>
          </a:p>
        </p:txBody>
      </p:sp>
      <p:sp>
        <p:nvSpPr>
          <p:cNvPr id="14" name="TextBox 14"/>
          <p:cNvSpPr txBox="1"/>
          <p:nvPr/>
        </p:nvSpPr>
        <p:spPr>
          <a:xfrm>
            <a:off x="930402" y="3701148"/>
            <a:ext cx="7557497" cy="478631"/>
          </a:xfrm>
          <a:prstGeom prst="rect">
            <a:avLst/>
          </a:prstGeom>
        </p:spPr>
        <p:txBody>
          <a:bodyPr lIns="0" tIns="0" rIns="0" bIns="0" rtlCol="0" anchor="t">
            <a:spAutoFit/>
          </a:bodyPr>
          <a:lstStyle/>
          <a:p>
            <a:pPr algn="l">
              <a:lnSpc>
                <a:spcPts val="3187"/>
              </a:lnSpc>
            </a:pPr>
            <a:r>
              <a:rPr lang="en-US" sz="2062">
                <a:solidFill>
                  <a:srgbClr val="3C3939"/>
                </a:solidFill>
                <a:latin typeface="Roboto"/>
                <a:ea typeface="Roboto"/>
                <a:cs typeface="Roboto"/>
                <a:sym typeface="Roboto"/>
              </a:rPr>
              <a:t>Interactive charts display spending patterns</a:t>
            </a:r>
          </a:p>
        </p:txBody>
      </p:sp>
      <p:grpSp>
        <p:nvGrpSpPr>
          <p:cNvPr id="15" name="Group 15"/>
          <p:cNvGrpSpPr/>
          <p:nvPr/>
        </p:nvGrpSpPr>
        <p:grpSpPr>
          <a:xfrm>
            <a:off x="6781800" y="1608830"/>
            <a:ext cx="11255293" cy="6224902"/>
            <a:chOff x="0" y="0"/>
            <a:chExt cx="14979802" cy="8299869"/>
          </a:xfrm>
        </p:grpSpPr>
        <p:sp>
          <p:nvSpPr>
            <p:cNvPr id="16" name="Freeform 16"/>
            <p:cNvSpPr/>
            <p:nvPr/>
          </p:nvSpPr>
          <p:spPr>
            <a:xfrm>
              <a:off x="0" y="0"/>
              <a:ext cx="14979777" cy="8299831"/>
            </a:xfrm>
            <a:custGeom>
              <a:avLst/>
              <a:gdLst/>
              <a:ahLst/>
              <a:cxnLst/>
              <a:rect l="l" t="t" r="r" b="b"/>
              <a:pathLst>
                <a:path w="14979777" h="8299831">
                  <a:moveTo>
                    <a:pt x="0" y="0"/>
                  </a:moveTo>
                  <a:lnTo>
                    <a:pt x="14979777" y="0"/>
                  </a:lnTo>
                  <a:lnTo>
                    <a:pt x="14979777" y="8299831"/>
                  </a:lnTo>
                  <a:lnTo>
                    <a:pt x="0" y="8299831"/>
                  </a:lnTo>
                  <a:lnTo>
                    <a:pt x="0" y="0"/>
                  </a:lnTo>
                  <a:close/>
                </a:path>
              </a:pathLst>
            </a:custGeom>
            <a:blipFill>
              <a:blip r:embed="rId2"/>
              <a:stretch>
                <a:fillRect l="-8588" r="-8588"/>
              </a:stretch>
            </a:blipFill>
          </p:spPr>
        </p:sp>
      </p:grpSp>
      <p:pic>
        <p:nvPicPr>
          <p:cNvPr id="17" name="Image 3" descr="preencoded.png">
            <a:extLst>
              <a:ext uri="{FF2B5EF4-FFF2-40B4-BE49-F238E27FC236}">
                <a16:creationId xmlns:a16="http://schemas.microsoft.com/office/drawing/2014/main" id="{7A4BE170-A370-89E6-A8D4-40B73B3ACEB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7787" y="2210988"/>
            <a:ext cx="465172" cy="46517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CECF3"/>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sp>
        <p:nvSpPr>
          <p:cNvPr id="6" name="TextBox 6"/>
          <p:cNvSpPr txBox="1"/>
          <p:nvPr/>
        </p:nvSpPr>
        <p:spPr>
          <a:xfrm>
            <a:off x="883739" y="871385"/>
            <a:ext cx="10428389" cy="817664"/>
          </a:xfrm>
          <a:prstGeom prst="rect">
            <a:avLst/>
          </a:prstGeom>
        </p:spPr>
        <p:txBody>
          <a:bodyPr lIns="0" tIns="0" rIns="0" bIns="0" rtlCol="0" anchor="t">
            <a:spAutoFit/>
          </a:bodyPr>
          <a:lstStyle/>
          <a:p>
            <a:pPr algn="l">
              <a:lnSpc>
                <a:spcPts val="6187"/>
              </a:lnSpc>
            </a:pPr>
            <a:r>
              <a:rPr lang="en-US" sz="4937">
                <a:solidFill>
                  <a:srgbClr val="1B1B27"/>
                </a:solidFill>
                <a:latin typeface="Raleway"/>
                <a:ea typeface="Raleway"/>
                <a:cs typeface="Raleway"/>
                <a:sym typeface="Raleway"/>
              </a:rPr>
              <a:t>Future Enhancements &amp; Conclusion</a:t>
            </a:r>
          </a:p>
        </p:txBody>
      </p:sp>
      <p:sp>
        <p:nvSpPr>
          <p:cNvPr id="7" name="TextBox 7"/>
          <p:cNvSpPr txBox="1"/>
          <p:nvPr/>
        </p:nvSpPr>
        <p:spPr>
          <a:xfrm>
            <a:off x="883739" y="2222602"/>
            <a:ext cx="3156499" cy="423120"/>
          </a:xfrm>
          <a:prstGeom prst="rect">
            <a:avLst/>
          </a:prstGeom>
        </p:spPr>
        <p:txBody>
          <a:bodyPr lIns="0" tIns="0" rIns="0" bIns="0" rtlCol="0" anchor="t">
            <a:spAutoFit/>
          </a:bodyPr>
          <a:lstStyle/>
          <a:p>
            <a:pPr algn="l">
              <a:lnSpc>
                <a:spcPts val="3062"/>
              </a:lnSpc>
            </a:pPr>
            <a:r>
              <a:rPr lang="en-US" sz="2437">
                <a:solidFill>
                  <a:srgbClr val="1B1B27"/>
                </a:solidFill>
                <a:latin typeface="Raleway"/>
                <a:ea typeface="Raleway"/>
                <a:cs typeface="Raleway"/>
                <a:sym typeface="Raleway"/>
              </a:rPr>
              <a:t>Planned Features</a:t>
            </a:r>
          </a:p>
        </p:txBody>
      </p:sp>
      <p:sp>
        <p:nvSpPr>
          <p:cNvPr id="8" name="TextBox 8"/>
          <p:cNvSpPr txBox="1"/>
          <p:nvPr/>
        </p:nvSpPr>
        <p:spPr>
          <a:xfrm>
            <a:off x="883739" y="2784872"/>
            <a:ext cx="8808987" cy="3376613"/>
          </a:xfrm>
          <a:prstGeom prst="rect">
            <a:avLst/>
          </a:prstGeom>
        </p:spPr>
        <p:txBody>
          <a:bodyPr lIns="0" tIns="0" rIns="0" bIns="0" rtlCol="0" anchor="t">
            <a:spAutoFit/>
          </a:bodyPr>
          <a:lstStyle/>
          <a:p>
            <a:pPr marL="292199" lvl="1" indent="-146100" algn="l">
              <a:lnSpc>
                <a:spcPts val="3000"/>
              </a:lnSpc>
              <a:buFont typeface="Arial"/>
              <a:buChar char="•"/>
            </a:pPr>
            <a:r>
              <a:rPr lang="en-US" sz="1937" b="1">
                <a:solidFill>
                  <a:srgbClr val="3C3939"/>
                </a:solidFill>
                <a:latin typeface="Roboto Bold"/>
                <a:ea typeface="Roboto Bold"/>
                <a:cs typeface="Roboto Bold"/>
                <a:sym typeface="Roboto Bold"/>
              </a:rPr>
              <a:t>CSV Export:</a:t>
            </a:r>
            <a:r>
              <a:rPr lang="en-US" sz="1937">
                <a:solidFill>
                  <a:srgbClr val="3C3939"/>
                </a:solidFill>
                <a:latin typeface="Roboto"/>
                <a:ea typeface="Roboto"/>
                <a:cs typeface="Roboto"/>
                <a:sym typeface="Roboto"/>
              </a:rPr>
              <a:t> Download transaction data for external analysis and record-keeping</a:t>
            </a:r>
          </a:p>
          <a:p>
            <a:pPr marL="292199" lvl="1" indent="-146100" algn="l">
              <a:lnSpc>
                <a:spcPts val="3000"/>
              </a:lnSpc>
              <a:buFont typeface="Arial"/>
              <a:buChar char="•"/>
            </a:pPr>
            <a:r>
              <a:rPr lang="en-US" sz="1937" b="1">
                <a:solidFill>
                  <a:srgbClr val="3C3939"/>
                </a:solidFill>
                <a:latin typeface="Roboto Bold"/>
                <a:ea typeface="Roboto Bold"/>
                <a:cs typeface="Roboto Bold"/>
                <a:sym typeface="Roboto Bold"/>
              </a:rPr>
              <a:t>Budget Goals:</a:t>
            </a:r>
            <a:r>
              <a:rPr lang="en-US" sz="1937">
                <a:solidFill>
                  <a:srgbClr val="3C3939"/>
                </a:solidFill>
                <a:latin typeface="Roboto"/>
                <a:ea typeface="Roboto"/>
                <a:cs typeface="Roboto"/>
                <a:sym typeface="Roboto"/>
              </a:rPr>
              <a:t> Set monthly spending limits with notifications when approaching thresholds</a:t>
            </a:r>
          </a:p>
          <a:p>
            <a:pPr marL="292199" lvl="1" indent="-146100" algn="l">
              <a:lnSpc>
                <a:spcPts val="3000"/>
              </a:lnSpc>
              <a:buFont typeface="Arial"/>
              <a:buChar char="•"/>
            </a:pPr>
            <a:r>
              <a:rPr lang="en-US" sz="1937" b="1">
                <a:solidFill>
                  <a:srgbClr val="3C3939"/>
                </a:solidFill>
                <a:latin typeface="Roboto Bold"/>
                <a:ea typeface="Roboto Bold"/>
                <a:cs typeface="Roboto Bold"/>
                <a:sym typeface="Roboto Bold"/>
              </a:rPr>
              <a:t>Mobile App:</a:t>
            </a:r>
            <a:r>
              <a:rPr lang="en-US" sz="1937">
                <a:solidFill>
                  <a:srgbClr val="3C3939"/>
                </a:solidFill>
                <a:latin typeface="Roboto"/>
                <a:ea typeface="Roboto"/>
                <a:cs typeface="Roboto"/>
                <a:sym typeface="Roboto"/>
              </a:rPr>
              <a:t> React Native companion application for on-the-go expense tracking</a:t>
            </a:r>
          </a:p>
          <a:p>
            <a:pPr marL="292199" lvl="1" indent="-146100" algn="l">
              <a:lnSpc>
                <a:spcPts val="3000"/>
              </a:lnSpc>
              <a:buFont typeface="Arial"/>
              <a:buChar char="•"/>
            </a:pPr>
            <a:r>
              <a:rPr lang="en-US" sz="1937" b="1">
                <a:solidFill>
                  <a:srgbClr val="3C3939"/>
                </a:solidFill>
                <a:latin typeface="Roboto Bold"/>
                <a:ea typeface="Roboto Bold"/>
                <a:cs typeface="Roboto Bold"/>
                <a:sym typeface="Roboto Bold"/>
              </a:rPr>
              <a:t>Expense Forecasting:</a:t>
            </a:r>
            <a:r>
              <a:rPr lang="en-US" sz="1937">
                <a:solidFill>
                  <a:srgbClr val="3C3939"/>
                </a:solidFill>
                <a:latin typeface="Roboto"/>
                <a:ea typeface="Roboto"/>
                <a:cs typeface="Roboto"/>
                <a:sym typeface="Roboto"/>
              </a:rPr>
              <a:t> AI-powered predictions based on historical spending patterns</a:t>
            </a:r>
          </a:p>
        </p:txBody>
      </p:sp>
      <p:grpSp>
        <p:nvGrpSpPr>
          <p:cNvPr id="9" name="Group 9"/>
          <p:cNvGrpSpPr/>
          <p:nvPr/>
        </p:nvGrpSpPr>
        <p:grpSpPr>
          <a:xfrm>
            <a:off x="10318404" y="3179712"/>
            <a:ext cx="7095230" cy="4020588"/>
            <a:chOff x="0" y="0"/>
            <a:chExt cx="9460306" cy="5360784"/>
          </a:xfrm>
        </p:grpSpPr>
        <p:sp>
          <p:nvSpPr>
            <p:cNvPr id="10" name="Freeform 10" descr="preencoded.png"/>
            <p:cNvSpPr/>
            <p:nvPr/>
          </p:nvSpPr>
          <p:spPr>
            <a:xfrm>
              <a:off x="0" y="0"/>
              <a:ext cx="9460357" cy="5360797"/>
            </a:xfrm>
            <a:custGeom>
              <a:avLst/>
              <a:gdLst/>
              <a:ahLst/>
              <a:cxnLst/>
              <a:rect l="l" t="t" r="r" b="b"/>
              <a:pathLst>
                <a:path w="9460357" h="5360797">
                  <a:moveTo>
                    <a:pt x="0" y="0"/>
                  </a:moveTo>
                  <a:lnTo>
                    <a:pt x="9460357" y="0"/>
                  </a:lnTo>
                  <a:lnTo>
                    <a:pt x="9460357" y="5360797"/>
                  </a:lnTo>
                  <a:lnTo>
                    <a:pt x="0" y="5360797"/>
                  </a:lnTo>
                  <a:lnTo>
                    <a:pt x="0" y="0"/>
                  </a:lnTo>
                  <a:close/>
                </a:path>
              </a:pathLst>
            </a:custGeom>
            <a:blipFill>
              <a:blip r:embed="rId2"/>
              <a:stretch>
                <a:fillRect l="-19" r="-18"/>
              </a:stretch>
            </a:blipFill>
          </p:spPr>
        </p:sp>
      </p:grpSp>
      <p:grpSp>
        <p:nvGrpSpPr>
          <p:cNvPr id="11" name="Group 11"/>
          <p:cNvGrpSpPr/>
          <p:nvPr/>
        </p:nvGrpSpPr>
        <p:grpSpPr>
          <a:xfrm>
            <a:off x="883739" y="8669979"/>
            <a:ext cx="16520522" cy="18898"/>
            <a:chOff x="0" y="0"/>
            <a:chExt cx="22027363" cy="25197"/>
          </a:xfrm>
        </p:grpSpPr>
        <p:sp>
          <p:nvSpPr>
            <p:cNvPr id="12" name="Freeform 12"/>
            <p:cNvSpPr/>
            <p:nvPr/>
          </p:nvSpPr>
          <p:spPr>
            <a:xfrm>
              <a:off x="0" y="0"/>
              <a:ext cx="22027387" cy="25146"/>
            </a:xfrm>
            <a:custGeom>
              <a:avLst/>
              <a:gdLst/>
              <a:ahLst/>
              <a:cxnLst/>
              <a:rect l="l" t="t" r="r" b="b"/>
              <a:pathLst>
                <a:path w="22027387" h="25146">
                  <a:moveTo>
                    <a:pt x="0" y="0"/>
                  </a:moveTo>
                  <a:lnTo>
                    <a:pt x="22027387" y="0"/>
                  </a:lnTo>
                  <a:lnTo>
                    <a:pt x="22027387" y="25146"/>
                  </a:lnTo>
                  <a:lnTo>
                    <a:pt x="0" y="25146"/>
                  </a:lnTo>
                  <a:close/>
                </a:path>
              </a:pathLst>
            </a:custGeom>
            <a:solidFill>
              <a:srgbClr val="3C3939">
                <a:alpha val="24706"/>
              </a:srgbClr>
            </a:solid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577</Words>
  <Application>Microsoft Office PowerPoint</Application>
  <PresentationFormat>Custom</PresentationFormat>
  <Paragraphs>89</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Roboto</vt:lpstr>
      <vt:lpstr>Calibri</vt:lpstr>
      <vt:lpstr>Raleway</vt:lpstr>
      <vt:lpstr>Roboto Bold</vt:lpstr>
      <vt:lpstr>Raleway Light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Anush Reddy</dc:creator>
  <cp:lastModifiedBy>Anush Reddy</cp:lastModifiedBy>
  <cp:revision>2</cp:revision>
  <dcterms:created xsi:type="dcterms:W3CDTF">2006-08-16T00:00:00Z</dcterms:created>
  <dcterms:modified xsi:type="dcterms:W3CDTF">2026-04-27T19:03:10Z</dcterms:modified>
  <dc:identifier>DAHIEkabQi0</dc:identifier>
</cp:coreProperties>
</file>